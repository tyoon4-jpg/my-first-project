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2A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dc35ba94cb567f16828a04ef6cb19a7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gen-dedup-48ffbba8ea627111c708b57ef555320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239805" y="1714500"/>
            <a:ext cx="6096305" cy="6096305"/>
          </a:xfrm>
          <a:prstGeom prst="rect">
            <a:avLst/>
          </a:prstGeom>
        </p:spPr>
      </p:pic>
      <p:pic>
        <p:nvPicPr>
          <p:cNvPr id="5" name="Image 2" descr="gen-dedup-b0d3d0d84a33dcc36de54960149a3897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1143000" y="914400"/>
            <a:ext cx="16002000" cy="9144"/>
          </a:xfrm>
          <a:prstGeom prst="rect">
            <a:avLst/>
          </a:prstGeom>
        </p:spPr>
      </p:pic>
      <p:pic>
        <p:nvPicPr>
          <p:cNvPr id="6" name="Image 3" descr="gen-dedup-5aea333609c1e7f5e1558840d58ce602.png">    </p:cNvPr>
          <p:cNvPicPr>
            <a:picLocks noChangeAspect="1"/>
          </p:cNvPicPr>
          <p:nvPr/>
        </p:nvPicPr>
        <p:blipFill>
          <a:blip r:embed="rId4"/>
          <a:srcRect l="0" r="0" t="-201" b="-201"/>
          <a:stretch/>
        </p:blipFill>
        <p:spPr>
          <a:xfrm>
            <a:off x="1143000" y="3238805"/>
            <a:ext cx="75895" cy="1143000"/>
          </a:xfrm>
          <a:prstGeom prst="rect">
            <a:avLst/>
          </a:prstGeom>
        </p:spPr>
      </p:pic>
      <p:pic>
        <p:nvPicPr>
          <p:cNvPr id="7" name="Image 4" descr="gen-dedup-b0d3d0d84a33dcc36de54960149a3897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1143000" y="8572500"/>
            <a:ext cx="16002000" cy="9144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1143000" y="1123798"/>
            <a:ext cx="8572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spc="378" kern="0" dirty="0">
                <a:solidFill>
                  <a:srgbClr val="A8D8C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TECHNICAL Q&amp;A · 심의 답변자료 · REV 1</a:t>
            </a:r>
            <a:endParaRPr lang="en-US" sz="1300" dirty="0"/>
          </a:p>
        </p:txBody>
      </p:sp>
      <p:sp>
        <p:nvSpPr>
          <p:cNvPr id="9" name="Text 2"/>
          <p:cNvSpPr txBox="1"/>
          <p:nvPr/>
        </p:nvSpPr>
        <p:spPr>
          <a:xfrm>
            <a:off x="14668805" y="1123798"/>
            <a:ext cx="2477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00" spc="243" kern="0" dirty="0">
                <a:solidFill>
                  <a:srgbClr val="A8D8C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2026.06.29 · KR</a:t>
            </a:r>
            <a:endParaRPr lang="en-US" sz="1300" dirty="0"/>
          </a:p>
        </p:txBody>
      </p:sp>
      <p:sp>
        <p:nvSpPr>
          <p:cNvPr id="10" name="Text 3"/>
          <p:cNvSpPr txBox="1"/>
          <p:nvPr/>
        </p:nvSpPr>
        <p:spPr>
          <a:xfrm>
            <a:off x="1524305" y="3238805"/>
            <a:ext cx="8572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spc="450" kern="0" dirty="0">
                <a:solidFill>
                  <a:srgbClr val="A8D8C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CRUSHED-STONE SUB-BASE RESERVOIR</a:t>
            </a:r>
            <a:endParaRPr lang="en-US" sz="1500" dirty="0"/>
          </a:p>
        </p:txBody>
      </p:sp>
      <p:sp>
        <p:nvSpPr>
          <p:cNvPr id="11" name="Text 4"/>
          <p:cNvSpPr txBox="1"/>
          <p:nvPr/>
        </p:nvSpPr>
        <p:spPr>
          <a:xfrm>
            <a:off x="1524305" y="3600907"/>
            <a:ext cx="8572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294" kern="0" dirty="0">
                <a:solidFill>
                  <a:srgbClr val="A8D8C5">
                    <a:alpha val="70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SSR · LID · CLIMATE RESILIENT URBAN HYDROLOGY</a:t>
            </a:r>
            <a:endParaRPr lang="en-US" sz="1000" dirty="0"/>
          </a:p>
        </p:txBody>
      </p:sp>
      <p:sp>
        <p:nvSpPr>
          <p:cNvPr id="12" name="Text 5"/>
          <p:cNvSpPr txBox="1"/>
          <p:nvPr/>
        </p:nvSpPr>
        <p:spPr>
          <a:xfrm>
            <a:off x="1143000" y="4190695"/>
            <a:ext cx="10478110" cy="2371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00" b="1" spc="-162" kern="0" dirty="0">
                <a:solidFill>
                  <a:srgbClr val="F5F8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쇄석 저수조 기술</a:t>
            </a:r>
            <a:pPr algn="l" indent="0" marL="0">
              <a:buNone/>
            </a:pPr>
            <a:endParaRPr lang="en-US" sz="8100" dirty="0"/>
          </a:p>
          <a:p>
            <a:pPr algn="l" indent="0" marL="0">
              <a:buNone/>
            </a:pPr>
            <a:r>
              <a:rPr lang="en-US" sz="8100" b="1" spc="-162" kern="0" dirty="0">
                <a:solidFill>
                  <a:srgbClr val="F5F8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심의위원 질의 답변</a:t>
            </a:r>
            <a:endParaRPr lang="en-US" sz="8100" dirty="0"/>
          </a:p>
        </p:txBody>
      </p:sp>
      <p:sp>
        <p:nvSpPr>
          <p:cNvPr id="13" name="Text 6"/>
          <p:cNvSpPr txBox="1"/>
          <p:nvPr/>
        </p:nvSpPr>
        <p:spPr>
          <a:xfrm>
            <a:off x="1181405" y="6762902"/>
            <a:ext cx="95253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7D5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성능시험 신뢰성 확보 · 노반 지하수위 모니터링 ·</a:t>
            </a:r>
            <a:pPr algn="l" indent="0" marL="0">
              <a:buNone/>
            </a:pP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C7D5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LID 차별성 · 기후대응 정량 효과에 관한 4개 질의 응답</a:t>
            </a:r>
            <a:endParaRPr lang="en-US" sz="2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8858707"/>
          <a:ext cx="16002000" cy="905256"/>
        </p:xfrm>
        <a:graphic>
          <a:graphicData uri="http://schemas.openxmlformats.org/drawingml/2006/table">
            <a:tbl>
              <a:tblPr/>
              <a:tblGrid>
                <a:gridCol w="4000500"/>
                <a:gridCol w="4000500"/>
                <a:gridCol w="4000500"/>
                <a:gridCol w="4000500"/>
              </a:tblGrid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7FB69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Q1 / RELIABILITY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7FB69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Q2 / MONITORING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7FB69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Q3 / DIFFERENTIATION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7FB69E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Q4 / CLIMATE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F5F8F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현장 성능시험 신뢰성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D8C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O&amp;M 매뉴얼 체계</a:t>
                      </a:r>
                      <a:endParaRPr lang="en-US" sz="1200" dirty="0"/>
                    </a:p>
                  </a:txBody>
                  <a:tcPr marL="9144" marR="9144" marT="38405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F5F8F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노반 지하수위 변동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D8C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지중센서 연속 모니터링</a:t>
                      </a:r>
                      <a:endParaRPr lang="en-US" sz="1200" dirty="0"/>
                    </a:p>
                  </a:txBody>
                  <a:tcPr marL="9144" marR="9144" marT="38405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F5F8F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LID·도시물순환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D8C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기존 기술 대비 차별성</a:t>
                      </a:r>
                      <a:endParaRPr lang="en-US" sz="1200" dirty="0"/>
                    </a:p>
                  </a:txBody>
                  <a:tcPr marL="9144" marR="9144" marT="38405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F5F8F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기후대응 정량 기여</a:t>
                      </a:r>
                      <a:pPr indent="0" marL="0">
                        <a:buNone/>
                      </a:pP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D8C5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목표 달성 효과</a:t>
                      </a:r>
                      <a:endParaRPr lang="en-US" sz="1200" dirty="0"/>
                    </a:p>
                  </a:txBody>
                  <a:tcPr marL="9144" marR="9144" marT="38405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7"/>
          <p:cNvSpPr txBox="1"/>
          <p:nvPr/>
        </p:nvSpPr>
        <p:spPr>
          <a:xfrm>
            <a:off x="16573500" y="9753905"/>
            <a:ext cx="57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10" kern="0" dirty="0">
                <a:solidFill>
                  <a:srgbClr val="7FB6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05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5e97b70e815252f72ddbf6e75ff8dbc5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1695" y="1143000"/>
            <a:ext cx="16763695" cy="1619402"/>
          </a:xfrm>
          <a:prstGeom prst="rect">
            <a:avLst/>
          </a:prstGeom>
          <a:solidFill>
            <a:srgbClr val="0F2A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1695" y="4000500"/>
            <a:ext cx="5429707" cy="31811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4000500"/>
            <a:ext cx="5429707" cy="38405"/>
          </a:xfrm>
          <a:prstGeom prst="rect">
            <a:avLst/>
          </a:prstGeom>
          <a:solidFill>
            <a:srgbClr val="1F5E4D"/>
          </a:solidFill>
          <a:ln w="12700">
            <a:solidFill>
              <a:srgbClr val="1F5E4D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29146" y="4000500"/>
            <a:ext cx="5429707" cy="31811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6429146" y="4000500"/>
            <a:ext cx="5429707" cy="38405"/>
          </a:xfrm>
          <a:prstGeom prst="rect">
            <a:avLst/>
          </a:prstGeom>
          <a:solidFill>
            <a:srgbClr val="1F5E4D"/>
          </a:solidFill>
          <a:ln w="12700">
            <a:solidFill>
              <a:srgbClr val="1F5E4D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96598" y="4000500"/>
            <a:ext cx="5429707" cy="31811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12096598" y="4000500"/>
            <a:ext cx="5429707" cy="38405"/>
          </a:xfrm>
          <a:prstGeom prst="rect">
            <a:avLst/>
          </a:prstGeom>
          <a:solidFill>
            <a:srgbClr val="1F5E4D"/>
          </a:solidFill>
          <a:ln w="12700">
            <a:solidFill>
              <a:srgbClr val="1F5E4D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1695" y="8382305"/>
            <a:ext cx="16763695" cy="12380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gen-dedup-66fc906b9f6d42951e0035df0cba0160.png">    </p:cNvPr>
          <p:cNvPicPr>
            <a:picLocks noChangeAspect="1"/>
          </p:cNvPicPr>
          <p:nvPr/>
        </p:nvPicPr>
        <p:blipFill>
          <a:blip r:embed="rId2"/>
          <a:srcRect l="0" r="0" t="-2083" b="-2083"/>
          <a:stretch/>
        </p:blipFill>
        <p:spPr>
          <a:xfrm>
            <a:off x="2286000" y="1466698"/>
            <a:ext cx="9144" cy="10287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61695" y="8382305"/>
            <a:ext cx="16763695" cy="323698"/>
          </a:xfrm>
          <a:prstGeom prst="rect">
            <a:avLst/>
          </a:prstGeom>
          <a:solidFill>
            <a:srgbClr val="0F2A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61695" y="571500"/>
            <a:ext cx="5715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384" kern="0" dirty="0">
                <a:solidFill>
                  <a:srgbClr val="1F5E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Q1 · RELIABILITY VERIFICATION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16573500" y="571500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00" spc="210" kern="0" dirty="0">
                <a:solidFill>
                  <a:srgbClr val="6FAE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05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1410005"/>
            <a:ext cx="762610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dirty="0">
                <a:solidFill>
                  <a:srgbClr val="7FB6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Q1</a:t>
            </a:r>
            <a:endParaRPr lang="en-US" sz="4500" dirty="0"/>
          </a:p>
        </p:txBody>
      </p:sp>
      <p:sp>
        <p:nvSpPr>
          <p:cNvPr id="17" name="Text 13"/>
          <p:cNvSpPr txBox="1"/>
          <p:nvPr/>
        </p:nvSpPr>
        <p:spPr>
          <a:xfrm>
            <a:off x="2667305" y="1410005"/>
            <a:ext cx="140973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8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성능시험을 통해 어떻게 신뢰성을 검증할 것인가</a:t>
            </a:r>
            <a:endParaRPr lang="en-US" sz="2500" dirty="0"/>
          </a:p>
        </p:txBody>
      </p:sp>
      <p:sp>
        <p:nvSpPr>
          <p:cNvPr id="18" name="Text 14"/>
          <p:cNvSpPr txBox="1"/>
          <p:nvPr/>
        </p:nvSpPr>
        <p:spPr>
          <a:xfrm>
            <a:off x="2667305" y="2152498"/>
            <a:ext cx="140973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8D8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심의 의견 — </a:t>
            </a:r>
            <a:pPr algn="l" indent="0" marL="0">
              <a:buNone/>
            </a:pPr>
            <a:r>
              <a:rPr lang="en-US" sz="1500" dirty="0">
                <a:solidFill>
                  <a:srgbClr val="F5F8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O&amp;M(운영·유지관리) 측정 매뉴얼 수립 필요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761695" y="3143707"/>
            <a:ext cx="8572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293" kern="0" dirty="0">
                <a:solidFill>
                  <a:srgbClr val="1F5E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· 3-PILLAR FIELD VERIFICATION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761695" y="3429000"/>
            <a:ext cx="8572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2A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동결-융해 내구성 + 배수성능 + 실시간 센서</a:t>
            </a:r>
            <a:endParaRPr lang="en-US" sz="2100" dirty="0"/>
          </a:p>
        </p:txBody>
      </p:sp>
      <p:sp>
        <p:nvSpPr>
          <p:cNvPr id="21" name="Text 17"/>
          <p:cNvSpPr txBox="1"/>
          <p:nvPr/>
        </p:nvSpPr>
        <p:spPr>
          <a:xfrm>
            <a:off x="1028700" y="4190695"/>
            <a:ext cx="571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263" kern="0" dirty="0">
                <a:solidFill>
                  <a:srgbClr val="6FAE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1028700" y="4476902"/>
            <a:ext cx="4953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A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동결-융해 내구성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5A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Freeze–Thaw Durability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1028700" y="5333695"/>
            <a:ext cx="4953305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실증지역(노원구) 동결깊이 300~400mm 기준, 저수조 총 두께 </a:t>
            </a:r>
            <a:pPr algn="l" indent="0" marL="0">
              <a:buNone/>
            </a:pPr>
            <a:r>
              <a:rPr lang="en-US" sz="1200" b="1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700mm 이상</a:t>
            </a:r>
            <a:pPr algn="l" indent="0" marL="0">
              <a:buNone/>
            </a:pPr>
            <a:r>
              <a:rPr lang="en-US" sz="1200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(노반 500mm 포함) 확보.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마모손실 ≤30%, 0.075mm 체 통과율 ≤2%, </a:t>
            </a:r>
            <a:pPr algn="l" indent="0" marL="0">
              <a:buNone/>
            </a:pPr>
            <a:r>
              <a:rPr lang="en-US" sz="1200" b="1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공극률 ≥32%</a:t>
            </a:r>
            <a:pPr algn="l" indent="0" marL="0">
              <a:buNone/>
            </a:pPr>
            <a:r>
              <a:rPr lang="en-US" sz="1200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팽창공간 확보.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6696151" y="4190695"/>
            <a:ext cx="571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263" kern="0" dirty="0">
                <a:solidFill>
                  <a:srgbClr val="6FAE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6696151" y="4476902"/>
            <a:ext cx="4953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A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배수 성능 기준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5A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Drainage Performance Criteria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6696151" y="5333695"/>
            <a:ext cx="4953305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강우 후 </a:t>
            </a:r>
            <a:pPr algn="l" indent="0" marL="0">
              <a:buNone/>
            </a:pPr>
            <a:r>
              <a:rPr lang="en-US" sz="1200" b="1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24~48시간 이내 완전 배수</a:t>
            </a:r>
            <a:pPr algn="l" indent="0" marL="0">
              <a:buNone/>
            </a:pPr>
            <a:r>
              <a:rPr lang="en-US" sz="1200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바닥 경사 0.5% 이상 유지.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폭우 36시간 이후 수위 20% 이상 잔존 시 </a:t>
            </a:r>
            <a:pPr algn="l" indent="0" marL="0">
              <a:buNone/>
            </a:pPr>
            <a:r>
              <a:rPr lang="en-US" sz="1200" b="1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센서 경보 자동 발령</a:t>
            </a:r>
            <a:pPr algn="l" indent="0" marL="0">
              <a:buNone/>
            </a:pPr>
            <a:r>
              <a:rPr lang="en-US" sz="1200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배수구 막힘 감지·유지보수 시행.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12363602" y="4190695"/>
            <a:ext cx="571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263" kern="0" dirty="0">
                <a:solidFill>
                  <a:srgbClr val="6FAE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12363602" y="4476902"/>
            <a:ext cx="4953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A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모니터링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5A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Embedded Sensor Network</a:t>
            </a:r>
            <a:endParaRPr lang="en-US" sz="1800" dirty="0"/>
          </a:p>
        </p:txBody>
      </p:sp>
      <p:sp>
        <p:nvSpPr>
          <p:cNvPr id="29" name="Text 25"/>
          <p:cNvSpPr txBox="1"/>
          <p:nvPr/>
        </p:nvSpPr>
        <p:spPr>
          <a:xfrm>
            <a:off x="12363602" y="5333695"/>
            <a:ext cx="4953305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수위 / 공극압 / 침하판 / 진동와이어 변환기</a:t>
            </a:r>
            <a:pPr algn="l" indent="0" marL="0">
              <a:buNone/>
            </a:pPr>
            <a:r>
              <a:rPr lang="en-US" sz="1200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내장하여 막힘·배수 장애·노반 변형을 실시간 감지.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상태기반 유지관리(CBM)로 전환 → 수명주기 비용 </a:t>
            </a:r>
            <a:pPr algn="l" indent="0" marL="0">
              <a:buNone/>
            </a:pPr>
            <a:r>
              <a:rPr lang="en-US" sz="1200" b="1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20~30% 절감</a:t>
            </a:r>
            <a:pPr algn="l" indent="0" marL="0">
              <a:buNone/>
            </a:pPr>
            <a:r>
              <a:rPr lang="en-US" sz="1200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761695" y="7524598"/>
            <a:ext cx="8572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293" kern="0" dirty="0">
                <a:solidFill>
                  <a:srgbClr val="1F5E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· O&amp;M MANUAL · 3-TIER MAINTENANCE SCHEDULE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761695" y="7810805"/>
            <a:ext cx="12382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2A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표면 퇴적물이 굳어 </a:t>
            </a:r>
            <a:pPr algn="l" indent="0" marL="0">
              <a:buNone/>
            </a:pPr>
            <a:r>
              <a:rPr lang="en-US" sz="1500" b="1" dirty="0">
                <a:solidFill>
                  <a:srgbClr val="0F2A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“단단한 층(hard crust)”</a:t>
            </a:r>
            <a:pPr algn="l" indent="0" marL="0">
              <a:buNone/>
            </a:pPr>
            <a:r>
              <a:rPr lang="en-US" sz="1500" dirty="0">
                <a:solidFill>
                  <a:srgbClr val="0F2A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형성되는 것을 방지하는 단계별 유지관리 체계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8458200"/>
          <a:ext cx="16764610" cy="200254"/>
        </p:xfrm>
        <a:graphic>
          <a:graphicData uri="http://schemas.openxmlformats.org/drawingml/2006/table">
            <a:tbl>
              <a:tblPr/>
              <a:tblGrid>
                <a:gridCol w="2347265"/>
                <a:gridCol w="3687775"/>
                <a:gridCol w="3017520"/>
                <a:gridCol w="4023360"/>
                <a:gridCol w="3688690"/>
              </a:tblGrid>
              <a:tr h="2002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A8D8C5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단계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286207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A8D8C5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활동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A8D8C5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주기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A8D8C5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측정 지표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A8D8C5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트리거 / 합격 기준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8810244"/>
          <a:ext cx="16764610" cy="1105510"/>
        </p:xfrm>
        <a:graphic>
          <a:graphicData uri="http://schemas.openxmlformats.org/drawingml/2006/table">
            <a:tbl>
              <a:tblPr/>
              <a:tblGrid>
                <a:gridCol w="2347265"/>
                <a:gridCol w="3687775"/>
                <a:gridCol w="3017520"/>
                <a:gridCol w="4023360"/>
                <a:gridCol w="3688690"/>
              </a:tblGrid>
              <a:tr h="3685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F5E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Tier 1 · 일상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86207" marR="286207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2B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육안 점검 · 표면 침전물 제거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2B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분기 1회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2B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표면 침투율, 배수 시간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5A6B6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강우 후 24h 내 배수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5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F5E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Tier 2 · 정기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86207" marR="286207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2B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진공 청소 · 지오텍스타일 점검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2B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 1~2회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2B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침투율, 막힘방지층 상태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5A6B6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동결기 이전 </a:t>
                      </a:r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F5E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중력식 배수 완료</a:t>
                      </a:r>
                      <a:endParaRPr lang="en-US" sz="1200" dirty="0"/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5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F5E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Tier 3 · 보수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286207" marR="286207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2B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막힘방지층 재포설 · 폴리우레탄 그라우트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2B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센서 경보 시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2B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공극압, 침하량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5A6B6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36h 후 수위 ≥20% / 침하 ≥10mm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75895" marB="75895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" name="Text 28"/>
          <p:cNvSpPr txBox="1"/>
          <p:nvPr/>
        </p:nvSpPr>
        <p:spPr>
          <a:xfrm>
            <a:off x="761695" y="9905695"/>
            <a:ext cx="16764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spc="149" kern="0" dirty="0">
                <a:solidFill>
                  <a:srgbClr val="7A85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[SOURCE] 기술제안서(Rev1) §2.나 — 동결-융해 방지 시스템 / 막힘 방지 방안 / 스마트 모니터링 · 수명주기 유지보수 방안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5e97b70e815252f72ddbf6e75ff8dbc5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1695" y="1143000"/>
            <a:ext cx="16763695" cy="1619402"/>
          </a:xfrm>
          <a:prstGeom prst="rect">
            <a:avLst/>
          </a:prstGeom>
          <a:solidFill>
            <a:srgbClr val="0F2A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1695" y="3504895"/>
            <a:ext cx="8572500" cy="53336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620402" y="3504895"/>
            <a:ext cx="3895344" cy="1714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9620402" y="3504895"/>
            <a:ext cx="38405" cy="1714500"/>
          </a:xfrm>
          <a:prstGeom prst="rect">
            <a:avLst/>
          </a:prstGeom>
          <a:solidFill>
            <a:srgbClr val="C1452F"/>
          </a:solidFill>
          <a:ln w="12700">
            <a:solidFill>
              <a:srgbClr val="C1452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668451" y="3504895"/>
            <a:ext cx="3895344" cy="1714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13668451" y="3504895"/>
            <a:ext cx="38405" cy="1714500"/>
          </a:xfrm>
          <a:prstGeom prst="rect">
            <a:avLst/>
          </a:prstGeom>
          <a:solidFill>
            <a:srgbClr val="C1452F"/>
          </a:solidFill>
          <a:ln w="12700">
            <a:solidFill>
              <a:srgbClr val="C1452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20402" y="5810098"/>
            <a:ext cx="7905902" cy="13331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20402" y="7715707"/>
            <a:ext cx="3857854" cy="1619402"/>
          </a:xfrm>
          <a:prstGeom prst="rect">
            <a:avLst/>
          </a:prstGeom>
          <a:solidFill>
            <a:srgbClr val="0F2A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668451" y="7715707"/>
            <a:ext cx="3857854" cy="1619402"/>
          </a:xfrm>
          <a:prstGeom prst="rect">
            <a:avLst/>
          </a:prstGeom>
          <a:solidFill>
            <a:srgbClr val="0F2A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gen-dedup-66fc906b9f6d42951e0035df0cba0160.png">    </p:cNvPr>
          <p:cNvPicPr>
            <a:picLocks noChangeAspect="1"/>
          </p:cNvPicPr>
          <p:nvPr/>
        </p:nvPicPr>
        <p:blipFill>
          <a:blip r:embed="rId2"/>
          <a:srcRect l="0" r="0" t="-2083" b="-2083"/>
          <a:stretch/>
        </p:blipFill>
        <p:spPr>
          <a:xfrm>
            <a:off x="2286000" y="1466698"/>
            <a:ext cx="9144" cy="1028700"/>
          </a:xfrm>
          <a:prstGeom prst="rect">
            <a:avLst/>
          </a:prstGeom>
        </p:spPr>
      </p:pic>
      <p:pic>
        <p:nvPicPr>
          <p:cNvPr id="14" name="Image 2" descr="gen-dedup-d39602791e88c7e211b6dc218460b782.png">    </p:cNvPr>
          <p:cNvPicPr>
            <a:picLocks noChangeAspect="1"/>
          </p:cNvPicPr>
          <p:nvPr/>
        </p:nvPicPr>
        <p:blipFill>
          <a:blip r:embed="rId3"/>
          <a:srcRect l="-3" r="-3" t="0" b="0"/>
          <a:stretch/>
        </p:blipFill>
        <p:spPr>
          <a:xfrm>
            <a:off x="761695" y="3504895"/>
            <a:ext cx="8572500" cy="53336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61695" y="571500"/>
            <a:ext cx="8572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384" kern="0" dirty="0">
                <a:solidFill>
                  <a:srgbClr val="1F5E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Q2 · GROUNDWATER &amp; SUBSIDENCE MONITORING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6573500" y="571500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00" spc="210" kern="0" dirty="0">
                <a:solidFill>
                  <a:srgbClr val="6FAE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05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1143000" y="1410005"/>
            <a:ext cx="762610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dirty="0">
                <a:solidFill>
                  <a:srgbClr val="7FB6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Q2</a:t>
            </a:r>
            <a:endParaRPr lang="en-US" sz="4500" dirty="0"/>
          </a:p>
        </p:txBody>
      </p:sp>
      <p:sp>
        <p:nvSpPr>
          <p:cNvPr id="18" name="Text 13"/>
          <p:cNvSpPr txBox="1"/>
          <p:nvPr/>
        </p:nvSpPr>
        <p:spPr>
          <a:xfrm>
            <a:off x="2667305" y="1410005"/>
            <a:ext cx="14097305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8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SSR 하부 지하수위 변동·수분이동의 검증 방법</a:t>
            </a:r>
            <a:pPr algn="l" indent="0" marL="0">
              <a:buNone/>
            </a:pPr>
            <a:endParaRPr lang="en-US" sz="25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A8D8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지중센서 연속 모니터링의 구현 가능성</a:t>
            </a:r>
            <a:endParaRPr lang="en-US" sz="2500" dirty="0"/>
          </a:p>
        </p:txBody>
      </p:sp>
      <p:sp>
        <p:nvSpPr>
          <p:cNvPr id="19" name="Text 14"/>
          <p:cNvSpPr txBox="1"/>
          <p:nvPr/>
        </p:nvSpPr>
        <p:spPr>
          <a:xfrm>
            <a:off x="2667305" y="2361895"/>
            <a:ext cx="14097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D8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심의 의견 — </a:t>
            </a:r>
            <a:pPr algn="l" indent="0" marL="0">
              <a:buNone/>
            </a:pPr>
            <a:r>
              <a:rPr lang="en-US" sz="1300" dirty="0">
                <a:solidFill>
                  <a:srgbClr val="F5F8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지반 침하 발생 시 개선 조치 방안 마련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761695" y="3143707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293" kern="0" dirty="0">
                <a:solidFill>
                  <a:srgbClr val="1F5E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· MONITORING INFRASTRUCTURE · 단면 모식도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9620402" y="3143707"/>
            <a:ext cx="79059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293" kern="0" dirty="0">
                <a:solidFill>
                  <a:srgbClr val="1F5E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· 수분 유발 지반 침하 판정 기준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9849002" y="3676802"/>
            <a:ext cx="3525012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dirty="0">
                <a:solidFill>
                  <a:srgbClr val="C1452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&gt;10</a:t>
            </a:r>
            <a:pPr algn="l" indent="0" marL="0">
              <a:buNone/>
            </a:pPr>
            <a:r>
              <a:rPr lang="en-US" sz="1500" dirty="0">
                <a:solidFill>
                  <a:srgbClr val="5A6B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mm</a:t>
            </a:r>
            <a:endParaRPr lang="en-US" sz="3100" dirty="0"/>
          </a:p>
        </p:txBody>
      </p:sp>
      <p:sp>
        <p:nvSpPr>
          <p:cNvPr id="23" name="Text 18"/>
          <p:cNvSpPr txBox="1"/>
          <p:nvPr/>
        </p:nvSpPr>
        <p:spPr>
          <a:xfrm>
            <a:off x="9849002" y="4229100"/>
            <a:ext cx="35250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A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지표면 침하 누적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9849002" y="4515307"/>
            <a:ext cx="35250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침하 핀 측정값. 노반 압밀 또는 공극 형성 의심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13897051" y="3676802"/>
            <a:ext cx="3525012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dirty="0">
                <a:solidFill>
                  <a:srgbClr val="C1452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&gt;2</a:t>
            </a:r>
            <a:pPr algn="l" indent="0" marL="0">
              <a:buNone/>
            </a:pPr>
            <a:r>
              <a:rPr lang="en-US" sz="1500" dirty="0">
                <a:solidFill>
                  <a:srgbClr val="5A6B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mm/월</a:t>
            </a:r>
            <a:endParaRPr lang="en-US" sz="3100" dirty="0"/>
          </a:p>
        </p:txBody>
      </p:sp>
      <p:sp>
        <p:nvSpPr>
          <p:cNvPr id="26" name="Text 21"/>
          <p:cNvSpPr txBox="1"/>
          <p:nvPr/>
        </p:nvSpPr>
        <p:spPr>
          <a:xfrm>
            <a:off x="13897051" y="4229100"/>
            <a:ext cx="35250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2A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측방 변위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13897051" y="4515307"/>
            <a:ext cx="35250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경사계 측정값. 사면 불안정 또는 차등 변위 의심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9620402" y="5477256"/>
            <a:ext cx="79059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293" kern="0" dirty="0">
                <a:solidFill>
                  <a:srgbClr val="1F5E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 · 연속 모니터링 — 4종 지중 센서 네트워크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810598" y="5952744"/>
          <a:ext cx="7525512" cy="1314907"/>
        </p:xfrm>
        <a:graphic>
          <a:graphicData uri="http://schemas.openxmlformats.org/drawingml/2006/table">
            <a:tbl>
              <a:tblPr/>
              <a:tblGrid>
                <a:gridCol w="2859329"/>
                <a:gridCol w="4665269"/>
              </a:tblGrid>
              <a:tr h="328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5E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중첩 피에조미터 (≥3공)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노반 경계면 하부 −2~3m, 진동와이어 압력변환기 · 자동 데이터로거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8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5E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간극수압 센서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급격한 증가 = 노반 배수 장애 → 지지력 위협 직접 경보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8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5E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기계식 침하판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노반-골재 경계면 기준 높이 설정 · 변형 추적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87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5E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경사계 (Inclinometer)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6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측방 수분 이동 · 차등 변위 감지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57607" marB="576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 24"/>
          <p:cNvSpPr txBox="1"/>
          <p:nvPr/>
        </p:nvSpPr>
        <p:spPr>
          <a:xfrm>
            <a:off x="9620402" y="7381951"/>
            <a:ext cx="79059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293" kern="0" dirty="0">
                <a:solidFill>
                  <a:srgbClr val="C1452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 · 침하 감지 시 즉각적인 개선 조치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9849002" y="7886700"/>
            <a:ext cx="35250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FB6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폴리우레탄 그라우트 주입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9849002" y="8210398"/>
            <a:ext cx="352501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7D5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심층 침하 감지 시 고밀도·수분불감성 폴리우레탄 폼을 노반 토양에 직접 주입. 갇힌 물을 밀어내고 공극을 메워 </a:t>
            </a:r>
            <a:pPr algn="l" indent="0" marL="0">
              <a:buNone/>
            </a:pPr>
            <a:r>
              <a:rPr lang="en-US" sz="1000" b="1" dirty="0">
                <a:solidFill>
                  <a:srgbClr val="F5F8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굴착 없이 지면 높이로 복원</a:t>
            </a:r>
            <a:pPr algn="l" indent="0" marL="0">
              <a:buNone/>
            </a:pPr>
            <a:r>
              <a:rPr lang="en-US" sz="1000" dirty="0">
                <a:solidFill>
                  <a:srgbClr val="C7D5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13897051" y="7886700"/>
            <a:ext cx="35250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FB6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구성 요소 재배치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13897051" y="8210398"/>
            <a:ext cx="35250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7D5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표면 침하 시 기초 포장재·상부 막힘방지층 제거 후 깨끗한 자갈로 재평탄화. 정적 롤러로 </a:t>
            </a:r>
            <a:pPr algn="l" indent="0" marL="0">
              <a:buNone/>
            </a:pPr>
            <a:r>
              <a:rPr lang="en-US" sz="1000" b="1" dirty="0">
                <a:solidFill>
                  <a:srgbClr val="F5F8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하중을 기층 전체에 고르게 분산</a:t>
            </a:r>
            <a:pPr algn="l" indent="0" marL="0">
              <a:buNone/>
            </a:pPr>
            <a:r>
              <a:rPr lang="en-US" sz="1000" dirty="0">
                <a:solidFill>
                  <a:srgbClr val="C7D5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761695" y="9905695"/>
            <a:ext cx="16764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spc="149" kern="0" dirty="0">
                <a:solidFill>
                  <a:srgbClr val="7A85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[SOURCE] 기술제안서(Rev1) §2.나 — 노반 지하수위 및 모니터링 방안 / 수분 유발 지반 침하 식별 / 지반 침하 발생 시 개선 조치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5e97b70e815252f72ddbf6e75ff8dbc5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1695" y="1143000"/>
            <a:ext cx="16763695" cy="1619402"/>
          </a:xfrm>
          <a:prstGeom prst="rect">
            <a:avLst/>
          </a:prstGeom>
          <a:solidFill>
            <a:srgbClr val="0F2A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1695" y="3524098"/>
            <a:ext cx="16763695" cy="40955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1695" y="8143646"/>
            <a:ext cx="4048049" cy="1524305"/>
          </a:xfrm>
          <a:prstGeom prst="rect">
            <a:avLst/>
          </a:prstGeom>
          <a:solidFill>
            <a:srgbClr val="1F5E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00854" y="8143646"/>
            <a:ext cx="4048049" cy="1524305"/>
          </a:xfrm>
          <a:prstGeom prst="rect">
            <a:avLst/>
          </a:prstGeom>
          <a:solidFill>
            <a:srgbClr val="1F5E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239098" y="8143646"/>
            <a:ext cx="4048049" cy="1524305"/>
          </a:xfrm>
          <a:prstGeom prst="rect">
            <a:avLst/>
          </a:prstGeom>
          <a:solidFill>
            <a:srgbClr val="1F5E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478256" y="8143646"/>
            <a:ext cx="4048049" cy="1524305"/>
          </a:xfrm>
          <a:prstGeom prst="rect">
            <a:avLst/>
          </a:prstGeom>
          <a:solidFill>
            <a:srgbClr val="1F5E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gen-dedup-66fc906b9f6d42951e0035df0cba0160.png">    </p:cNvPr>
          <p:cNvPicPr>
            <a:picLocks noChangeAspect="1"/>
          </p:cNvPicPr>
          <p:nvPr/>
        </p:nvPicPr>
        <p:blipFill>
          <a:blip r:embed="rId2"/>
          <a:srcRect l="0" r="0" t="-2083" b="-2083"/>
          <a:stretch/>
        </p:blipFill>
        <p:spPr>
          <a:xfrm>
            <a:off x="2286000" y="1466698"/>
            <a:ext cx="9144" cy="10287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61695" y="3524098"/>
            <a:ext cx="16763695" cy="457200"/>
          </a:xfrm>
          <a:prstGeom prst="rect">
            <a:avLst/>
          </a:prstGeom>
          <a:solidFill>
            <a:srgbClr val="0F2A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61695" y="571500"/>
            <a:ext cx="8572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384" kern="0" dirty="0">
                <a:solidFill>
                  <a:srgbClr val="1F5E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Q3 · LID DIFFERENTIATION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6573500" y="571500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00" spc="210" kern="0" dirty="0">
                <a:solidFill>
                  <a:srgbClr val="6FAE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05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1410005"/>
            <a:ext cx="762610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dirty="0">
                <a:solidFill>
                  <a:srgbClr val="7FB6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Q3</a:t>
            </a:r>
            <a:endParaRPr lang="en-US" sz="4500" dirty="0"/>
          </a:p>
        </p:txBody>
      </p:sp>
      <p:sp>
        <p:nvSpPr>
          <p:cNvPr id="15" name="Text 11"/>
          <p:cNvSpPr txBox="1"/>
          <p:nvPr/>
        </p:nvSpPr>
        <p:spPr>
          <a:xfrm>
            <a:off x="2667305" y="1410005"/>
            <a:ext cx="14097305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8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LID·도시물순환 측면에서 본 기술의 차별성</a:t>
            </a:r>
            <a:endParaRPr lang="en-US" sz="2500" dirty="0"/>
          </a:p>
        </p:txBody>
      </p:sp>
      <p:sp>
        <p:nvSpPr>
          <p:cNvPr id="16" name="Text 12"/>
          <p:cNvSpPr txBox="1"/>
          <p:nvPr/>
        </p:nvSpPr>
        <p:spPr>
          <a:xfrm>
            <a:off x="2667305" y="2115007"/>
            <a:ext cx="140973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8D8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표면형 LID(투수포장·식생수로·빗물정원)는 </a:t>
            </a:r>
            <a:pPr algn="l" indent="0" marL="0">
              <a:buNone/>
            </a:pPr>
            <a:r>
              <a:rPr lang="en-US" sz="1500" dirty="0">
                <a:solidFill>
                  <a:srgbClr val="F5F8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유출 “저감”</a:t>
            </a:r>
            <a:pPr algn="l" indent="0" marL="0">
              <a:buNone/>
            </a:pPr>
            <a:r>
              <a:rPr lang="en-US" sz="1500" dirty="0">
                <a:solidFill>
                  <a:srgbClr val="A8D8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머무름 — 본 기술은 </a:t>
            </a:r>
            <a:pPr algn="l" indent="0" marL="0">
              <a:buNone/>
            </a:pPr>
            <a:r>
              <a:rPr lang="en-US" sz="1500" dirty="0">
                <a:solidFill>
                  <a:srgbClr val="F5F8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지하 저수층을 구조층으로 통합</a:t>
            </a:r>
            <a:pPr algn="l" indent="0" marL="0">
              <a:buNone/>
            </a:pPr>
            <a:r>
              <a:rPr lang="en-US" sz="1500" dirty="0">
                <a:solidFill>
                  <a:srgbClr val="A8D8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정량 설계형 시스템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761695" y="3143707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293" kern="0" dirty="0">
                <a:solidFill>
                  <a:srgbClr val="1F5E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· 통합 시스템 기술 — 5개 핵심 차별점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3638398"/>
          <a:ext cx="16764610" cy="200254"/>
        </p:xfrm>
        <a:graphic>
          <a:graphicData uri="http://schemas.openxmlformats.org/drawingml/2006/table">
            <a:tbl>
              <a:tblPr/>
              <a:tblGrid>
                <a:gridCol w="3017520"/>
                <a:gridCol w="6202375"/>
                <a:gridCol w="7543800"/>
              </a:tblGrid>
              <a:tr h="2002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A8D8C5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구분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304495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A8D8C5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기존 LID·투수포장 기술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A8D8C5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본 제안 기술 — 쇄석 저수 시스템(SSR)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4048049"/>
          <a:ext cx="16764610" cy="2591410"/>
        </p:xfrm>
        <a:graphic>
          <a:graphicData uri="http://schemas.openxmlformats.org/drawingml/2006/table">
            <a:tbl>
              <a:tblPr/>
              <a:tblGrid>
                <a:gridCol w="3017520"/>
                <a:gridCol w="6202375"/>
                <a:gridCol w="7543800"/>
              </a:tblGrid>
              <a:tr h="4319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F5E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기능 통합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04495" marR="304495" marT="95098" marB="95098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5A6B6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표면 저감(투수포장) 또는 단순 저류(빗물정원) </a:t>
                      </a:r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5A6B6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단일 기능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5A6B6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중심</a:t>
                      </a:r>
                      <a:endParaRPr lang="en-US" sz="1200" dirty="0"/>
                    </a:p>
                  </a:txBody>
                  <a:tcPr marL="0" marR="152705" marT="95098" marB="95098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0F2A2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저수 + 여과 + 구조 지지 + 동결방지 + 모니터링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2B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의 5중 기능을 하나의 지하 기층에 통합</a:t>
                      </a:r>
                      <a:endParaRPr lang="en-US" sz="1200" dirty="0"/>
                    </a:p>
                  </a:txBody>
                  <a:tcPr marL="0" marR="0" marT="95098" marB="95098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9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F5E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설계 기준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04495" marR="304495" marT="95098" marB="95098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5A6B6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표면형 시설 위주의 가이드 — </a:t>
                      </a:r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5A6B6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정량 설계 절차 미비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5A6B6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, 국가 설계기준 부재</a:t>
                      </a:r>
                      <a:endParaRPr lang="en-US" sz="1200" dirty="0"/>
                    </a:p>
                  </a:txBody>
                  <a:tcPr marL="0" marR="152705" marT="95098" marB="95098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2B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입도비 </a:t>
                      </a:r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A2B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D₁₅/D₈₅ ≤ 5, D₁₅/D₁₅(노반) ≥ 5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2B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등 수학적 안정성·투수성 기준으로 정량 검증</a:t>
                      </a:r>
                      <a:endParaRPr lang="en-US" sz="1200" dirty="0"/>
                    </a:p>
                  </a:txBody>
                  <a:tcPr marL="0" marR="0" marT="95098" marB="95098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9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F5E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구조 성능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04495" marR="304495" marT="95098" marB="95098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5A6B6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저류 기능 강조 시 </a:t>
                      </a:r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5A6B6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구조적 지지력 저하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5A6B6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, 차량 통행면 적용에 한계</a:t>
                      </a:r>
                      <a:endParaRPr lang="en-US" sz="1200" dirty="0"/>
                    </a:p>
                  </a:txBody>
                  <a:tcPr marL="0" marR="152705" marT="95098" marB="95098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2B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내부마찰각 ≥45° 각형 쇄석 + 두께설계로 </a:t>
                      </a:r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A2B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지지력 20~50% 향상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2B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, 차도·산업단지 적용 가능</a:t>
                      </a:r>
                      <a:endParaRPr lang="en-US" sz="1200" dirty="0"/>
                    </a:p>
                  </a:txBody>
                  <a:tcPr marL="0" marR="0" marT="95098" marB="95098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9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C1452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핵심 기자재 </a:t>
                      </a:r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C1452F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[REV1 추가]</a:t>
                      </a:r>
                      <a:endParaRPr lang="en-US" sz="1200" dirty="0"/>
                    </a:p>
                  </a:txBody>
                  <a:tcPr marL="304495" marR="304495" marT="95098" marB="95098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5A6B6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현장 배합·다짐 의존 — </a:t>
                      </a:r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5A6B6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골재 입도 정밀 제어 불가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5A6B6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, 시공 편차 큼</a:t>
                      </a:r>
                      <a:endParaRPr lang="en-US" sz="1200" dirty="0"/>
                    </a:p>
                  </a:txBody>
                  <a:tcPr marL="0" marR="152705" marT="95098" marB="95098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0F2A2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① 개량형 골재 선별·배합장치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2B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(75mm 최대 골재 대응) + </a:t>
                      </a:r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0F2A2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② 하이셀(Hi-Cell) 기초공법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2B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— 벌집형 셀로 자갈 이탈 방지·측방유동 억제</a:t>
                      </a:r>
                      <a:endParaRPr lang="en-US" sz="1200" dirty="0"/>
                    </a:p>
                  </a:txBody>
                  <a:tcPr marL="0" marR="0" marT="95098" marB="95098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EF"/>
                    </a:solidFill>
                  </a:tcPr>
                </a:tc>
              </a:tr>
              <a:tr h="4319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F5E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막힘 대응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04495" marR="304495" marT="95098" marB="95098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5A6B6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시간 경과에 따른 막힘 → </a:t>
                      </a:r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5A6B6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침투성능 급격히 저하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5A6B6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, 사후 대응</a:t>
                      </a:r>
                      <a:endParaRPr lang="en-US" sz="1200" dirty="0"/>
                    </a:p>
                  </a:txBody>
                  <a:tcPr marL="0" marR="152705" marT="95098" marB="95098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2B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전처리 침전물 포집 + 막힘방지층(5~45mm) + 지오텍스타일 </a:t>
                      </a:r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A2B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3중 방어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2B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체계</a:t>
                      </a:r>
                      <a:endParaRPr lang="en-US" sz="1200" dirty="0"/>
                    </a:p>
                  </a:txBody>
                  <a:tcPr marL="0" marR="0" marT="95098" marB="95098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9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F5E4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운영 모니터링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304495" marR="304495" marT="95098" marB="95098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5A6B6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정기 점검 의존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5A6B6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— 막힘·침하 조기 감지 어려움</a:t>
                      </a:r>
                      <a:endParaRPr lang="en-US" sz="1200" dirty="0"/>
                    </a:p>
                  </a:txBody>
                  <a:tcPr marL="0" marR="152705" marT="95098" marB="95098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2B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수위·공극압·침하판·피에조미터 </a:t>
                      </a:r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1A2B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내장형 IoT 센서</a:t>
                      </a:r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1A2B2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로 실시간 상태기반 유지관리</a:t>
                      </a:r>
                      <a:endParaRPr lang="en-US" sz="1200" dirty="0"/>
                    </a:p>
                  </a:txBody>
                  <a:tcPr marL="0" marR="0" marT="95098" marB="95098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4"/>
          <p:cNvSpPr txBox="1"/>
          <p:nvPr/>
        </p:nvSpPr>
        <p:spPr>
          <a:xfrm>
            <a:off x="761695" y="7830007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293" kern="0" dirty="0">
                <a:solidFill>
                  <a:srgbClr val="1F5E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· 도시 물순환 기여 — 정량 효과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1028700" y="8305495"/>
            <a:ext cx="3620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A8D8C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PEAK FLOW REDUCTION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028700" y="8553298"/>
            <a:ext cx="36201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00" dirty="0">
                <a:solidFill>
                  <a:srgbClr val="F5F8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60–75</a:t>
            </a:r>
            <a:pPr algn="l" indent="0" marL="0">
              <a:buNone/>
            </a:pPr>
            <a:r>
              <a:rPr lang="en-US" sz="1900" dirty="0">
                <a:solidFill>
                  <a:srgbClr val="F5F8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3900" dirty="0"/>
          </a:p>
        </p:txBody>
      </p:sp>
      <p:sp>
        <p:nvSpPr>
          <p:cNvPr id="23" name="Text 17"/>
          <p:cNvSpPr txBox="1"/>
          <p:nvPr/>
        </p:nvSpPr>
        <p:spPr>
          <a:xfrm>
            <a:off x="1028700" y="9219895"/>
            <a:ext cx="36201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7D5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100년 재현주기 강우 발생 시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7D5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 유출량 감소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5266944" y="8305495"/>
            <a:ext cx="3620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A8D8C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STORAGE CAPACITY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5266944" y="8553298"/>
            <a:ext cx="36201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00" dirty="0">
                <a:solidFill>
                  <a:srgbClr val="F5F8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16.0</a:t>
            </a:r>
            <a:pPr algn="l" indent="0" marL="0">
              <a:buNone/>
            </a:pPr>
            <a:r>
              <a:rPr lang="en-US" sz="1600" dirty="0">
                <a:solidFill>
                  <a:srgbClr val="F5F8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m³</a:t>
            </a:r>
            <a:endParaRPr lang="en-US" sz="3900" dirty="0"/>
          </a:p>
        </p:txBody>
      </p:sp>
      <p:sp>
        <p:nvSpPr>
          <p:cNvPr id="26" name="Text 20"/>
          <p:cNvSpPr txBox="1"/>
          <p:nvPr/>
        </p:nvSpPr>
        <p:spPr>
          <a:xfrm>
            <a:off x="5266944" y="9219895"/>
            <a:ext cx="36201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7D5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100m²당 저수량 (공극률 32%)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7D5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설계홍수유출량 </a:t>
            </a:r>
            <a:pPr algn="l" indent="0" marL="0">
              <a:buNone/>
            </a:pPr>
            <a:r>
              <a:rPr lang="en-US" sz="900" b="1" dirty="0">
                <a:solidFill>
                  <a:srgbClr val="F5F8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1.27배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9506102" y="8305495"/>
            <a:ext cx="3620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A8D8C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GROUNDWATER RECHARGE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9506102" y="8553298"/>
            <a:ext cx="362011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5F8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400–600</a:t>
            </a:r>
            <a:pPr algn="l" indent="0" marL="0">
              <a:buNone/>
            </a:pPr>
            <a:r>
              <a:rPr lang="en-US" sz="1500" dirty="0">
                <a:solidFill>
                  <a:srgbClr val="F5F8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m³/년</a:t>
            </a:r>
            <a:endParaRPr lang="en-US" sz="3400" dirty="0"/>
          </a:p>
        </p:txBody>
      </p:sp>
      <p:sp>
        <p:nvSpPr>
          <p:cNvPr id="29" name="Text 23"/>
          <p:cNvSpPr txBox="1"/>
          <p:nvPr/>
        </p:nvSpPr>
        <p:spPr>
          <a:xfrm>
            <a:off x="9506102" y="9219895"/>
            <a:ext cx="36201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7D5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설치면적 1,000m²당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7D5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지하수 함양량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13744346" y="8305495"/>
            <a:ext cx="3620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A8D8C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POLLUTANT REMOVAL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13744346" y="8553298"/>
            <a:ext cx="362011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00" dirty="0">
                <a:solidFill>
                  <a:srgbClr val="F5F8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≥85</a:t>
            </a:r>
            <a:pPr algn="l" indent="0" marL="0">
              <a:buNone/>
            </a:pPr>
            <a:r>
              <a:rPr lang="en-US" sz="1900" dirty="0">
                <a:solidFill>
                  <a:srgbClr val="F5F8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3900" dirty="0"/>
          </a:p>
        </p:txBody>
      </p:sp>
      <p:sp>
        <p:nvSpPr>
          <p:cNvPr id="32" name="Text 26"/>
          <p:cNvSpPr txBox="1"/>
          <p:nvPr/>
        </p:nvSpPr>
        <p:spPr>
          <a:xfrm>
            <a:off x="13744346" y="9219895"/>
            <a:ext cx="36201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7D5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총부유물질(TSS) 제거율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7D5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(총인 ≥70%, 중금속 ≥60%)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761695" y="9905695"/>
            <a:ext cx="16764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spc="149" kern="0" dirty="0">
                <a:solidFill>
                  <a:srgbClr val="7A85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[SOURCE] 기술제안서(Rev1) §2.다 — 독창성·차별성 / 보유 기술(개량형 골재 선별·배합장치 · 하이셀 기초공법) · §4 — 기술적 효과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5e97b70e815252f72ddbf6e75ff8dbc5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61695" y="1143000"/>
            <a:ext cx="16763695" cy="1619402"/>
          </a:xfrm>
          <a:prstGeom prst="rect">
            <a:avLst/>
          </a:prstGeom>
          <a:solidFill>
            <a:srgbClr val="0F2A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1695" y="3504895"/>
            <a:ext cx="16802100" cy="9528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761695" y="3504895"/>
            <a:ext cx="38405" cy="952805"/>
          </a:xfrm>
          <a:prstGeom prst="rect">
            <a:avLst/>
          </a:prstGeom>
          <a:solidFill>
            <a:srgbClr val="C1452F"/>
          </a:solidFill>
          <a:ln w="12700">
            <a:solidFill>
              <a:srgbClr val="C1452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1695" y="5124298"/>
            <a:ext cx="4048049" cy="40955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00854" y="5124298"/>
            <a:ext cx="4048049" cy="40955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239098" y="5124298"/>
            <a:ext cx="4048049" cy="40955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478256" y="5124298"/>
            <a:ext cx="4048049" cy="409559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1695" y="9430207"/>
            <a:ext cx="16763695" cy="571500"/>
          </a:xfrm>
          <a:prstGeom prst="rect">
            <a:avLst/>
          </a:prstGeom>
          <a:solidFill>
            <a:srgbClr val="0F2A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gen-dedup-66fc906b9f6d42951e0035df0cba0160.png">    </p:cNvPr>
          <p:cNvPicPr>
            <a:picLocks noChangeAspect="1"/>
          </p:cNvPicPr>
          <p:nvPr/>
        </p:nvPicPr>
        <p:blipFill>
          <a:blip r:embed="rId2"/>
          <a:srcRect l="0" r="0" t="-2083" b="-2083"/>
          <a:stretch/>
        </p:blipFill>
        <p:spPr>
          <a:xfrm>
            <a:off x="2286000" y="1466698"/>
            <a:ext cx="9144" cy="1028700"/>
          </a:xfrm>
          <a:prstGeom prst="rect">
            <a:avLst/>
          </a:prstGeom>
        </p:spPr>
      </p:pic>
      <p:pic>
        <p:nvPicPr>
          <p:cNvPr id="13" name="Image 2" descr="gen-dedup-ce9f971663fefc9f925ad5e376d2bff1.png">    </p:cNvPr>
          <p:cNvPicPr>
            <a:picLocks noChangeAspect="1"/>
          </p:cNvPicPr>
          <p:nvPr/>
        </p:nvPicPr>
        <p:blipFill>
          <a:blip r:embed="rId3"/>
          <a:srcRect l="0" r="0" t="-2083" b="-2083"/>
          <a:stretch/>
        </p:blipFill>
        <p:spPr>
          <a:xfrm>
            <a:off x="6667805" y="3696005"/>
            <a:ext cx="9144" cy="571500"/>
          </a:xfrm>
          <a:prstGeom prst="rect">
            <a:avLst/>
          </a:prstGeom>
        </p:spPr>
      </p:pic>
      <p:pic>
        <p:nvPicPr>
          <p:cNvPr id="14" name="Image 3" descr="gen-dedup-ce9f971663fefc9f925ad5e376d2bff1.png">    </p:cNvPr>
          <p:cNvPicPr>
            <a:picLocks noChangeAspect="1"/>
          </p:cNvPicPr>
          <p:nvPr/>
        </p:nvPicPr>
        <p:blipFill>
          <a:blip r:embed="rId4"/>
          <a:srcRect l="0" r="0" t="-2083" b="-2083"/>
          <a:stretch/>
        </p:blipFill>
        <p:spPr>
          <a:xfrm>
            <a:off x="12287707" y="3696005"/>
            <a:ext cx="9144" cy="5715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61695" y="5124298"/>
            <a:ext cx="4048049" cy="761695"/>
          </a:xfrm>
          <a:prstGeom prst="rect">
            <a:avLst/>
          </a:prstGeom>
          <a:solidFill>
            <a:srgbClr val="0F2A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5000854" y="5124298"/>
            <a:ext cx="4048049" cy="761695"/>
          </a:xfrm>
          <a:prstGeom prst="rect">
            <a:avLst/>
          </a:prstGeom>
          <a:solidFill>
            <a:srgbClr val="0F2A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9239098" y="5124298"/>
            <a:ext cx="4048049" cy="761695"/>
          </a:xfrm>
          <a:prstGeom prst="rect">
            <a:avLst/>
          </a:prstGeom>
          <a:solidFill>
            <a:srgbClr val="0F2A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13478256" y="5124298"/>
            <a:ext cx="4048049" cy="761695"/>
          </a:xfrm>
          <a:prstGeom prst="rect">
            <a:avLst/>
          </a:prstGeom>
          <a:solidFill>
            <a:srgbClr val="0F2A2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761695" y="571500"/>
            <a:ext cx="8572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384" kern="0" dirty="0">
                <a:solidFill>
                  <a:srgbClr val="1F5E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Q4 · CLIMATE PREPAREDNESS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6573500" y="571500"/>
            <a:ext cx="1143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00" spc="210" kern="0" dirty="0">
                <a:solidFill>
                  <a:srgbClr val="6FAE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05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1143000" y="1410005"/>
            <a:ext cx="762610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dirty="0">
                <a:solidFill>
                  <a:srgbClr val="7FB6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Q4</a:t>
            </a:r>
            <a:endParaRPr lang="en-US" sz="4500" dirty="0"/>
          </a:p>
        </p:txBody>
      </p:sp>
      <p:sp>
        <p:nvSpPr>
          <p:cNvPr id="22" name="Text 16"/>
          <p:cNvSpPr txBox="1"/>
          <p:nvPr/>
        </p:nvSpPr>
        <p:spPr>
          <a:xfrm>
            <a:off x="2667305" y="1410005"/>
            <a:ext cx="14097305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8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 목표와 기후대응의 상세 연계 관계</a:t>
            </a:r>
            <a:endParaRPr lang="en-US" sz="2500" dirty="0"/>
          </a:p>
        </p:txBody>
      </p:sp>
      <p:sp>
        <p:nvSpPr>
          <p:cNvPr id="23" name="Text 17"/>
          <p:cNvSpPr txBox="1"/>
          <p:nvPr/>
        </p:nvSpPr>
        <p:spPr>
          <a:xfrm>
            <a:off x="2667305" y="2115007"/>
            <a:ext cx="140973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8D8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심의 의견 — </a:t>
            </a:r>
            <a:pPr algn="l" indent="0" marL="0">
              <a:buNone/>
            </a:pPr>
            <a:r>
              <a:rPr lang="en-US" sz="1500" dirty="0">
                <a:solidFill>
                  <a:srgbClr val="F5F8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 목표 달성 시 발현되는 세부 효과 제시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761695" y="3143707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293" kern="0" dirty="0">
                <a:solidFill>
                  <a:srgbClr val="C1452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· 기후 변화 압력 — 도입 필요성의 정량 근거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43000" y="3696005"/>
            <a:ext cx="5239512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dirty="0">
                <a:solidFill>
                  <a:srgbClr val="C1452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+35</a:t>
            </a:r>
            <a:pPr algn="l" indent="0" marL="0">
              <a:buNone/>
            </a:pPr>
            <a:r>
              <a:rPr lang="en-US" sz="1600" dirty="0">
                <a:solidFill>
                  <a:srgbClr val="5A6B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3100" dirty="0"/>
          </a:p>
        </p:txBody>
      </p:sp>
      <p:sp>
        <p:nvSpPr>
          <p:cNvPr id="26" name="Text 20"/>
          <p:cNvSpPr txBox="1"/>
          <p:nvPr/>
        </p:nvSpPr>
        <p:spPr>
          <a:xfrm>
            <a:off x="1143000" y="4172407"/>
            <a:ext cx="523951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20년간 시간당 </a:t>
            </a:r>
            <a:pPr algn="l" indent="0" marL="0">
              <a:buNone/>
            </a:pPr>
            <a:r>
              <a:rPr lang="en-US" sz="1100" b="1" dirty="0">
                <a:solidFill>
                  <a:srgbClr val="1A2B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80mm 이상 강우 발생 빈도</a:t>
            </a:r>
            <a:pPr algn="l"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증가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7048195" y="3696005"/>
            <a:ext cx="4953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C1452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92.7→140</a:t>
            </a:r>
            <a:pPr algn="l" indent="0" marL="0">
              <a:buNone/>
            </a:pPr>
            <a:r>
              <a:rPr lang="en-US" sz="1300" dirty="0">
                <a:solidFill>
                  <a:srgbClr val="5A6B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mm/hr</a:t>
            </a:r>
            <a:endParaRPr lang="en-US" sz="2800" dirty="0"/>
          </a:p>
        </p:txBody>
      </p:sp>
      <p:sp>
        <p:nvSpPr>
          <p:cNvPr id="28" name="Text 22"/>
          <p:cNvSpPr txBox="1"/>
          <p:nvPr/>
        </p:nvSpPr>
        <p:spPr>
          <a:xfrm>
            <a:off x="7048195" y="4172407"/>
            <a:ext cx="49533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2022년 시간 최대 강우(기록) </a:t>
            </a:r>
            <a:pPr algn="l" indent="0" marL="0">
              <a:buNone/>
            </a:pPr>
            <a:r>
              <a:rPr lang="en-US" sz="1100" b="1" dirty="0">
                <a:solidFill>
                  <a:srgbClr val="1A2B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본 기술 목표 투수성능</a:t>
            </a:r>
            <a:pPr algn="l"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(기준의 150%)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12668098" y="3696005"/>
            <a:ext cx="457200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dirty="0">
                <a:solidFill>
                  <a:srgbClr val="C1452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2.4</a:t>
            </a:r>
            <a:pPr algn="l" indent="0" marL="0">
              <a:buNone/>
            </a:pPr>
            <a:r>
              <a:rPr lang="en-US" sz="1600" dirty="0">
                <a:solidFill>
                  <a:srgbClr val="5A6B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조원</a:t>
            </a:r>
            <a:endParaRPr lang="en-US" sz="3100" dirty="0"/>
          </a:p>
        </p:txBody>
      </p:sp>
      <p:sp>
        <p:nvSpPr>
          <p:cNvPr id="30" name="Text 24"/>
          <p:cNvSpPr txBox="1"/>
          <p:nvPr/>
        </p:nvSpPr>
        <p:spPr>
          <a:xfrm>
            <a:off x="12668098" y="4172407"/>
            <a:ext cx="45720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환경부 </a:t>
            </a:r>
            <a:pPr algn="l" indent="0" marL="0">
              <a:buNone/>
            </a:pPr>
            <a:r>
              <a:rPr lang="en-US" sz="1100" b="1" dirty="0">
                <a:solidFill>
                  <a:srgbClr val="1A2B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홍수방지 도시사업(스펀지도로)</a:t>
            </a:r>
            <a:pPr algn="l" indent="0" marL="0">
              <a:buNone/>
            </a:pPr>
            <a:r>
              <a:rPr lang="en-US" sz="1100" dirty="0">
                <a:solidFill>
                  <a:srgbClr val="1A2B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2024–2030 투자계획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761695" y="4743907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293" kern="0" dirty="0">
                <a:solidFill>
                  <a:srgbClr val="1F5E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· 제안 목표 → 기후대응 효과 연계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1028700" y="5315407"/>
            <a:ext cx="3620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252" kern="0" dirty="0">
                <a:solidFill>
                  <a:srgbClr val="7FB6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EFFECT 01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1028700" y="55440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8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도시 침수 대응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1028700" y="6077102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spc="198" kern="0" dirty="0">
                <a:solidFill>
                  <a:srgbClr val="1F5E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</a:t>
            </a:r>
            <a:endParaRPr lang="en-US" sz="800" dirty="0"/>
          </a:p>
        </p:txBody>
      </p:sp>
      <p:sp>
        <p:nvSpPr>
          <p:cNvPr id="35" name="Text 29"/>
          <p:cNvSpPr txBox="1"/>
          <p:nvPr/>
        </p:nvSpPr>
        <p:spPr>
          <a:xfrm>
            <a:off x="1028700" y="6286500"/>
            <a:ext cx="3620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500mm 두께·공극률 </a:t>
            </a:r>
            <a:pPr algn="l" indent="0" marL="0">
              <a:buNone/>
            </a:pPr>
            <a:r>
              <a:rPr lang="en-US" sz="1200" b="1" dirty="0">
                <a:solidFill>
                  <a:srgbClr val="1A2B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32%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2B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100m²당 </a:t>
            </a:r>
            <a:pPr algn="l" indent="0" marL="0">
              <a:buNone/>
            </a:pPr>
            <a:r>
              <a:rPr lang="en-US" sz="1200" b="1" dirty="0">
                <a:solidFill>
                  <a:srgbClr val="1A2B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16.0m³ 빗물 저장</a:t>
            </a:r>
            <a:pPr algn="l" indent="0" marL="0">
              <a:buNone/>
            </a:pPr>
            <a:r>
              <a:rPr lang="en-US" sz="1200" dirty="0">
                <a:solidFill>
                  <a:srgbClr val="1A2B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(Rev1)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1028700" y="7048195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spc="198" kern="0" dirty="0">
                <a:solidFill>
                  <a:srgbClr val="1F5E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CLIMATE EFFECT</a:t>
            </a:r>
            <a:endParaRPr lang="en-US" sz="800" dirty="0"/>
          </a:p>
        </p:txBody>
      </p:sp>
      <p:sp>
        <p:nvSpPr>
          <p:cNvPr id="37" name="Text 31"/>
          <p:cNvSpPr txBox="1"/>
          <p:nvPr/>
        </p:nvSpPr>
        <p:spPr>
          <a:xfrm>
            <a:off x="1028700" y="7258507"/>
            <a:ext cx="36201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첨두 유출량 </a:t>
            </a:r>
            <a:pPr algn="l" indent="0" marL="0">
              <a:buNone/>
            </a:pPr>
            <a:r>
              <a:rPr lang="en-US" sz="1100" b="1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60~75% 감소</a:t>
            </a:r>
            <a:pPr algn="l" indent="0" marL="0">
              <a:buNone/>
            </a:pPr>
            <a:r>
              <a:rPr lang="en-US" sz="1100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(100년 빈도 강우 기준)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1,000m²당 최대강우 시 </a:t>
            </a:r>
            <a:pPr algn="l" indent="0" marL="0">
              <a:buNone/>
            </a:pPr>
            <a:r>
              <a:rPr lang="en-US" sz="1100" b="1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피해예방 1,000~2,000만원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첨두 발생시간 30~90분 지연으로 도심 하수관망 부하 분산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5266944" y="5315407"/>
            <a:ext cx="3620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252" kern="0" dirty="0">
                <a:solidFill>
                  <a:srgbClr val="7FB6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EFFECT 02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5266944" y="55440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8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가뭄·지하수 고갈 대응</a:t>
            </a:r>
            <a:endParaRPr lang="en-US" sz="1600" dirty="0"/>
          </a:p>
        </p:txBody>
      </p:sp>
      <p:sp>
        <p:nvSpPr>
          <p:cNvPr id="40" name="Text 34"/>
          <p:cNvSpPr txBox="1"/>
          <p:nvPr/>
        </p:nvSpPr>
        <p:spPr>
          <a:xfrm>
            <a:off x="5266944" y="6077102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spc="198" kern="0" dirty="0">
                <a:solidFill>
                  <a:srgbClr val="1F5E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</a:t>
            </a:r>
            <a:endParaRPr lang="en-US" sz="800" dirty="0"/>
          </a:p>
        </p:txBody>
      </p:sp>
      <p:sp>
        <p:nvSpPr>
          <p:cNvPr id="41" name="Text 35"/>
          <p:cNvSpPr txBox="1"/>
          <p:nvPr/>
        </p:nvSpPr>
        <p:spPr>
          <a:xfrm>
            <a:off x="5266944" y="6286500"/>
            <a:ext cx="3620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침투형 시스템 (라이너 없음)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A2B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제어식 배출구</a:t>
            </a:r>
            <a:pPr algn="l" indent="0" marL="0">
              <a:buNone/>
            </a:pPr>
            <a:r>
              <a:rPr lang="en-US" sz="1200" dirty="0">
                <a:solidFill>
                  <a:srgbClr val="1A2B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천천히 방류</a:t>
            </a:r>
            <a:endParaRPr lang="en-US" sz="1200" dirty="0"/>
          </a:p>
        </p:txBody>
      </p:sp>
      <p:sp>
        <p:nvSpPr>
          <p:cNvPr id="42" name="Text 36"/>
          <p:cNvSpPr txBox="1"/>
          <p:nvPr/>
        </p:nvSpPr>
        <p:spPr>
          <a:xfrm>
            <a:off x="5266944" y="7048195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spc="198" kern="0" dirty="0">
                <a:solidFill>
                  <a:srgbClr val="1F5E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CLIMATE EFFECT</a:t>
            </a:r>
            <a:endParaRPr lang="en-US" sz="800" dirty="0"/>
          </a:p>
        </p:txBody>
      </p:sp>
      <p:sp>
        <p:nvSpPr>
          <p:cNvPr id="43" name="Text 37"/>
          <p:cNvSpPr txBox="1"/>
          <p:nvPr/>
        </p:nvSpPr>
        <p:spPr>
          <a:xfrm>
            <a:off x="5266944" y="7258507"/>
            <a:ext cx="36201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1,000m²당 연간 </a:t>
            </a:r>
            <a:pPr algn="l" indent="0" marL="0">
              <a:buNone/>
            </a:pPr>
            <a:r>
              <a:rPr lang="en-US" sz="1100" b="1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400~600m³ 지하수 함양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도시화 유역 </a:t>
            </a:r>
            <a:pPr algn="l" indent="0" marL="0">
              <a:buNone/>
            </a:pPr>
            <a:r>
              <a:rPr lang="en-US" sz="1100" b="1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하천 기저유량 유지</a:t>
            </a:r>
            <a:pPr algn="l" indent="0" marL="0">
              <a:buNone/>
            </a:pPr>
            <a:r>
              <a:rPr lang="en-US" sz="1100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수생태계 개선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가뭄 취약성 감소, 도시하천 건천화 방지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9506102" y="5315407"/>
            <a:ext cx="3620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252" kern="0" dirty="0">
                <a:solidFill>
                  <a:srgbClr val="7FB6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EFFECT 03</a:t>
            </a:r>
            <a:endParaRPr lang="en-US" sz="900" dirty="0"/>
          </a:p>
        </p:txBody>
      </p:sp>
      <p:sp>
        <p:nvSpPr>
          <p:cNvPr id="45" name="Text 39"/>
          <p:cNvSpPr txBox="1"/>
          <p:nvPr/>
        </p:nvSpPr>
        <p:spPr>
          <a:xfrm>
            <a:off x="9506102" y="55440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8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도시열섬 완화</a:t>
            </a:r>
            <a:endParaRPr lang="en-US" sz="1600" dirty="0"/>
          </a:p>
        </p:txBody>
      </p:sp>
      <p:sp>
        <p:nvSpPr>
          <p:cNvPr id="46" name="Text 40"/>
          <p:cNvSpPr txBox="1"/>
          <p:nvPr/>
        </p:nvSpPr>
        <p:spPr>
          <a:xfrm>
            <a:off x="9506102" y="6077102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spc="198" kern="0" dirty="0">
                <a:solidFill>
                  <a:srgbClr val="1F5E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</a:t>
            </a:r>
            <a:endParaRPr lang="en-US" sz="800" dirty="0"/>
          </a:p>
        </p:txBody>
      </p:sp>
      <p:sp>
        <p:nvSpPr>
          <p:cNvPr id="47" name="Text 41"/>
          <p:cNvSpPr txBox="1"/>
          <p:nvPr/>
        </p:nvSpPr>
        <p:spPr>
          <a:xfrm>
            <a:off x="9506102" y="6286500"/>
            <a:ext cx="3620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투수포장 + 쇄석 저수조 결합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A2B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 증발 표면</a:t>
            </a:r>
            <a:pPr algn="l" indent="0" marL="0">
              <a:buNone/>
            </a:pPr>
            <a:r>
              <a:rPr lang="en-US" sz="1200" dirty="0">
                <a:solidFill>
                  <a:srgbClr val="1A2B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형성</a:t>
            </a:r>
            <a:endParaRPr lang="en-US" sz="1200" dirty="0"/>
          </a:p>
        </p:txBody>
      </p:sp>
      <p:sp>
        <p:nvSpPr>
          <p:cNvPr id="48" name="Text 42"/>
          <p:cNvSpPr txBox="1"/>
          <p:nvPr/>
        </p:nvSpPr>
        <p:spPr>
          <a:xfrm>
            <a:off x="9506102" y="7048195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spc="198" kern="0" dirty="0">
                <a:solidFill>
                  <a:srgbClr val="1F5E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CLIMATE EFFECT</a:t>
            </a:r>
            <a:endParaRPr lang="en-US" sz="800" dirty="0"/>
          </a:p>
        </p:txBody>
      </p:sp>
      <p:sp>
        <p:nvSpPr>
          <p:cNvPr id="49" name="Text 43"/>
          <p:cNvSpPr txBox="1"/>
          <p:nvPr/>
        </p:nvSpPr>
        <p:spPr>
          <a:xfrm>
            <a:off x="9506102" y="7258507"/>
            <a:ext cx="36201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저장수가 표면을 통해 증발 → </a:t>
            </a:r>
            <a:pPr algn="l" indent="0" marL="0">
              <a:buNone/>
            </a:pPr>
            <a:r>
              <a:rPr lang="en-US" sz="1100" b="1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“쿨 페이브먼트” 효과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기존 아스팔트 대비 지표면 주변 온도 저감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LEED v4.1 열섬현상 항목 최대 </a:t>
            </a:r>
            <a:pPr algn="l" indent="0" marL="0">
              <a:buNone/>
            </a:pPr>
            <a:r>
              <a:rPr lang="en-US" sz="1100" b="1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2점</a:t>
            </a:r>
            <a:pPr algn="l" indent="0" marL="0">
              <a:buNone/>
            </a:pPr>
            <a:r>
              <a:rPr lang="en-US" sz="1100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획득</a:t>
            </a:r>
            <a:endParaRPr lang="en-US" sz="1100" dirty="0"/>
          </a:p>
        </p:txBody>
      </p:sp>
      <p:sp>
        <p:nvSpPr>
          <p:cNvPr id="50" name="Text 44"/>
          <p:cNvSpPr txBox="1"/>
          <p:nvPr/>
        </p:nvSpPr>
        <p:spPr>
          <a:xfrm>
            <a:off x="13744346" y="5315407"/>
            <a:ext cx="3620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252" kern="0" dirty="0">
                <a:solidFill>
                  <a:srgbClr val="7FB6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EFFECT 04</a:t>
            </a:r>
            <a:endParaRPr lang="en-US" sz="900" dirty="0"/>
          </a:p>
        </p:txBody>
      </p:sp>
      <p:sp>
        <p:nvSpPr>
          <p:cNvPr id="51" name="Text 45"/>
          <p:cNvSpPr txBox="1"/>
          <p:nvPr/>
        </p:nvSpPr>
        <p:spPr>
          <a:xfrm>
            <a:off x="13744346" y="55440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8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저탄소·순환경제</a:t>
            </a:r>
            <a:endParaRPr lang="en-US" sz="1600" dirty="0"/>
          </a:p>
        </p:txBody>
      </p:sp>
      <p:sp>
        <p:nvSpPr>
          <p:cNvPr id="52" name="Text 46"/>
          <p:cNvSpPr txBox="1"/>
          <p:nvPr/>
        </p:nvSpPr>
        <p:spPr>
          <a:xfrm>
            <a:off x="13744346" y="6077102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spc="198" kern="0" dirty="0">
                <a:solidFill>
                  <a:srgbClr val="1F5E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</a:t>
            </a:r>
            <a:endParaRPr lang="en-US" sz="800" dirty="0"/>
          </a:p>
        </p:txBody>
      </p:sp>
      <p:sp>
        <p:nvSpPr>
          <p:cNvPr id="53" name="Text 47"/>
          <p:cNvSpPr txBox="1"/>
          <p:nvPr/>
        </p:nvSpPr>
        <p:spPr>
          <a:xfrm>
            <a:off x="13744346" y="6286500"/>
            <a:ext cx="3620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B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재활용 콘크리트 골재(RCA)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A2B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20% 이상 사용</a:t>
            </a:r>
            <a:endParaRPr lang="en-US" sz="1200" dirty="0"/>
          </a:p>
        </p:txBody>
      </p:sp>
      <p:sp>
        <p:nvSpPr>
          <p:cNvPr id="54" name="Text 48"/>
          <p:cNvSpPr txBox="1"/>
          <p:nvPr/>
        </p:nvSpPr>
        <p:spPr>
          <a:xfrm>
            <a:off x="13744346" y="7048195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spc="198" kern="0" dirty="0">
                <a:solidFill>
                  <a:srgbClr val="1F5E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CLIMATE EFFECT</a:t>
            </a:r>
            <a:endParaRPr lang="en-US" sz="800" dirty="0"/>
          </a:p>
        </p:txBody>
      </p:sp>
      <p:sp>
        <p:nvSpPr>
          <p:cNvPr id="55" name="Text 49"/>
          <p:cNvSpPr txBox="1"/>
          <p:nvPr/>
        </p:nvSpPr>
        <p:spPr>
          <a:xfrm>
            <a:off x="13744346" y="7258507"/>
            <a:ext cx="3620110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별도 저수조·연못 불필요 → </a:t>
            </a:r>
            <a:pPr algn="l" indent="0" marL="0">
              <a:buNone/>
            </a:pPr>
            <a:r>
              <a:rPr lang="en-US" sz="1100" b="1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30년간 1,000m²당 1,500~3,000만원</a:t>
            </a:r>
            <a:pPr algn="l" indent="0" marL="0">
              <a:buNone/>
            </a:pPr>
            <a:r>
              <a:rPr lang="en-US" sz="1100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인프라 비용 절감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빗물 배수관 건설비용 </a:t>
            </a:r>
            <a:pPr algn="l" indent="0" marL="0">
              <a:buNone/>
            </a:pPr>
            <a:r>
              <a:rPr lang="en-US" sz="1100" b="1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20~40% 절감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A3B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LEED 재활용 함량 항목 2점 획득</a:t>
            </a:r>
            <a:endParaRPr lang="en-US" sz="1100" dirty="0"/>
          </a:p>
        </p:txBody>
      </p:sp>
      <p:sp>
        <p:nvSpPr>
          <p:cNvPr id="56" name="Text 50"/>
          <p:cNvSpPr txBox="1"/>
          <p:nvPr/>
        </p:nvSpPr>
        <p:spPr>
          <a:xfrm>
            <a:off x="1047902" y="9601200"/>
            <a:ext cx="16193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B6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SUMMARY</a:t>
            </a:r>
            <a:pPr algn="l" indent="0" marL="0">
              <a:buNone/>
            </a:pPr>
            <a:r>
              <a:rPr lang="en-US" sz="1300" dirty="0">
                <a:solidFill>
                  <a:srgbClr val="F5F8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홍수 · 가뭄 · 열섬 · 탄소 — 기후 4대 압력을 </a:t>
            </a:r>
            <a:pPr algn="l" indent="0" marL="0">
              <a:buNone/>
            </a:pPr>
            <a:r>
              <a:rPr lang="en-US" sz="1300" b="1" dirty="0">
                <a:solidFill>
                  <a:srgbClr val="A8D8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지하 기층</a:t>
            </a:r>
            <a:pPr algn="l" indent="0" marL="0">
              <a:buNone/>
            </a:pPr>
            <a:r>
              <a:rPr lang="en-US" sz="1300" dirty="0">
                <a:solidFill>
                  <a:srgbClr val="F5F8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동시 대응하는 통합 기후적응 인프라</a:t>
            </a:r>
            <a:endParaRPr lang="en-US" sz="1300" dirty="0"/>
          </a:p>
        </p:txBody>
      </p:sp>
      <p:sp>
        <p:nvSpPr>
          <p:cNvPr id="57" name="Text 51"/>
          <p:cNvSpPr txBox="1"/>
          <p:nvPr/>
        </p:nvSpPr>
        <p:spPr>
          <a:xfrm>
            <a:off x="761695" y="10116007"/>
            <a:ext cx="16764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spc="149" kern="0" dirty="0">
                <a:solidFill>
                  <a:srgbClr val="7A85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[SOURCE] 기술제안서(Rev1) §2.가 — 산업 동향 · §4 — 기술적·경제적·환경적 효과 / LEED v4.1 Credit 획득 가능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2026-06-29T08:06:54Z</dcterms:created>
  <dcterms:modified xsi:type="dcterms:W3CDTF">2026-06-29T08:06:54Z</dcterms:modified>
</cp:coreProperties>
</file>