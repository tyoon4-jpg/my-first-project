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image" Target="../media/image-16-5.jpeg"/><Relationship Id="rId6" Type="http://schemas.openxmlformats.org/officeDocument/2006/relationships/image" Target="../media/image-16-6.jpeg"/><Relationship Id="rId7" Type="http://schemas.openxmlformats.org/officeDocument/2006/relationships/image" Target="../media/image-16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89133f5f0c4a25cb94a6eb5e07b049c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1" descr="gen-dedup-282eb4a305fd2da208d56d79a9960b47.png">    </p:cNvPr>
          <p:cNvPicPr>
            <a:picLocks noChangeAspect="1"/>
          </p:cNvPicPr>
          <p:nvPr/>
        </p:nvPicPr>
        <p:blipFill>
          <a:blip r:embed="rId2">
            <a:alphaModFix amt="65000"/>
          </a:blip>
          <a:srcRect l="-2" r="-2" t="0" b="0"/>
          <a:stretch/>
        </p:blipFill>
        <p:spPr>
          <a:xfrm>
            <a:off x="10477195" y="0"/>
            <a:ext cx="7810805" cy="10287000"/>
          </a:xfrm>
          <a:prstGeom prst="rect">
            <a:avLst/>
          </a:prstGeom>
        </p:spPr>
      </p:pic>
      <p:pic>
        <p:nvPicPr>
          <p:cNvPr id="6" name="Image 2" descr="gen-dedup-4891866397b5577330e454cf24d9caa3.png">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-400" r="-400" t="0" b="0"/>
          <a:stretch/>
        </p:blipFill>
        <p:spPr>
          <a:xfrm>
            <a:off x="10477195" y="0"/>
            <a:ext cx="19202" cy="10287000"/>
          </a:xfrm>
          <a:prstGeom prst="rect">
            <a:avLst/>
          </a:prstGeom>
        </p:spPr>
      </p:pic>
      <p:pic>
        <p:nvPicPr>
          <p:cNvPr id="7" name="Image 3" descr="gen-dedup-6d0c44d6a865cfc2becbc705d8c9f0be.png">    </p:cNvPr>
          <p:cNvPicPr>
            <a:picLocks noChangeAspect="1"/>
          </p:cNvPicPr>
          <p:nvPr/>
        </p:nvPicPr>
        <p:blipFill>
          <a:blip r:embed="rId4"/>
          <a:srcRect l="-181" r="-181" t="0" b="0"/>
          <a:stretch/>
        </p:blipFill>
        <p:spPr>
          <a:xfrm>
            <a:off x="1333195" y="1333195"/>
            <a:ext cx="761695" cy="75895"/>
          </a:xfrm>
          <a:prstGeom prst="rect">
            <a:avLst/>
          </a:prstGeom>
        </p:spPr>
      </p:pic>
      <p:pic>
        <p:nvPicPr>
          <p:cNvPr id="8" name="Image 4" descr="gen-dedup-ddbfa539d5daf8cb8d88fca58b1819a1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l="-2083" r="-2083" t="0" b="0"/>
          <a:stretch/>
        </p:blipFill>
        <p:spPr>
          <a:xfrm>
            <a:off x="1333195" y="8572500"/>
            <a:ext cx="8382305" cy="9144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333195" y="1600200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495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R&amp;D PROPOSAL · 2026</a:t>
            </a:r>
            <a:endParaRPr lang="en-US" sz="1600" dirty="0"/>
          </a:p>
        </p:txBody>
      </p:sp>
      <p:sp>
        <p:nvSpPr>
          <p:cNvPr id="10" name="Text 3"/>
          <p:cNvSpPr txBox="1"/>
          <p:nvPr/>
        </p:nvSpPr>
        <p:spPr>
          <a:xfrm>
            <a:off x="1333195" y="1981505"/>
            <a:ext cx="7620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spc="75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신기술 실증 과제 제안 발표자료</a:t>
            </a:r>
            <a:endParaRPr lang="en-US" sz="1500" dirty="0"/>
          </a:p>
        </p:txBody>
      </p:sp>
      <p:sp>
        <p:nvSpPr>
          <p:cNvPr id="11" name="Text 4"/>
          <p:cNvSpPr txBox="1"/>
          <p:nvPr/>
        </p:nvSpPr>
        <p:spPr>
          <a:xfrm>
            <a:off x="1333195" y="3143707"/>
            <a:ext cx="9335110" cy="2820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spc="-66" kern="0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개방형 입도 쇄석을</a:t>
            </a:r>
            <a:pPr algn="l" indent="0" marL="0">
              <a:buNone/>
            </a:pPr>
            <a:endParaRPr lang="en-US" sz="6600" dirty="0"/>
          </a:p>
          <a:p>
            <a:pPr algn="l" indent="0" marL="0">
              <a:buNone/>
            </a:pPr>
            <a:r>
              <a:rPr lang="en-US" sz="6600" b="1" spc="-66" kern="0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이용한 하부기층</a:t>
            </a:r>
            <a:pPr algn="l" indent="0" marL="0">
              <a:buNone/>
            </a:pPr>
            <a:endParaRPr lang="en-US" sz="6600" dirty="0"/>
          </a:p>
          <a:p>
            <a:pPr algn="l" indent="0" marL="0">
              <a:buNone/>
            </a:pPr>
            <a:r>
              <a:rPr lang="en-US" sz="6600" b="1" spc="-66" kern="0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저수시스템 개발</a:t>
            </a:r>
            <a:endParaRPr lang="en-US" sz="6600" dirty="0"/>
          </a:p>
        </p:txBody>
      </p:sp>
      <p:sp>
        <p:nvSpPr>
          <p:cNvPr id="12" name="Text 5"/>
          <p:cNvSpPr txBox="1"/>
          <p:nvPr/>
        </p:nvSpPr>
        <p:spPr>
          <a:xfrm>
            <a:off x="1333195" y="7048195"/>
            <a:ext cx="933511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Open-Graded Crushed Stone Sub-base Reservoir System</a:t>
            </a:r>
            <a:pPr algn="l" indent="0" marL="0">
              <a:buNone/>
            </a:pPr>
            <a:endParaRPr lang="en-US" sz="19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도시 홍수 완화 · 지하수 함양 · 스마트 모니터링 통합 솔루션</a:t>
            </a:r>
            <a:endParaRPr lang="en-US" sz="1900" dirty="0"/>
          </a:p>
        </p:txBody>
      </p:sp>
      <p:sp>
        <p:nvSpPr>
          <p:cNvPr id="13" name="Text 6"/>
          <p:cNvSpPr txBox="1"/>
          <p:nvPr/>
        </p:nvSpPr>
        <p:spPr>
          <a:xfrm>
            <a:off x="1333195" y="8762695"/>
            <a:ext cx="13624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169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발표자료</a:t>
            </a:r>
            <a:endParaRPr lang="en-US" sz="1100" dirty="0"/>
          </a:p>
        </p:txBody>
      </p:sp>
      <p:sp>
        <p:nvSpPr>
          <p:cNvPr id="14" name="Text 7"/>
          <p:cNvSpPr txBox="1"/>
          <p:nvPr/>
        </p:nvSpPr>
        <p:spPr>
          <a:xfrm>
            <a:off x="3265322" y="8762695"/>
            <a:ext cx="94914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169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성숙도</a:t>
            </a:r>
            <a:endParaRPr lang="en-US" sz="1100" dirty="0"/>
          </a:p>
        </p:txBody>
      </p:sp>
      <p:sp>
        <p:nvSpPr>
          <p:cNvPr id="15" name="Text 8"/>
          <p:cNvSpPr txBox="1"/>
          <p:nvPr/>
        </p:nvSpPr>
        <p:spPr>
          <a:xfrm>
            <a:off x="4711903" y="8762695"/>
            <a:ext cx="16861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169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부지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1333195" y="9020556"/>
            <a:ext cx="162123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 · 19페이지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3265322" y="9020556"/>
            <a:ext cx="100401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TRL 6단계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4711903" y="9020556"/>
            <a:ext cx="207203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노원 에코센터 주차장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1239805" y="2667305"/>
            <a:ext cx="6477610" cy="2400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0" b="1" spc="-840" kern="0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60</a:t>
            </a:r>
            <a:pPr algn="l" indent="0" marL="0">
              <a:buNone/>
            </a:pPr>
            <a:r>
              <a:rPr lang="en-US" sz="9000" b="1" spc="-840" kern="0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1000" dirty="0"/>
          </a:p>
        </p:txBody>
      </p:sp>
      <p:sp>
        <p:nvSpPr>
          <p:cNvPr id="20" name="Text 13"/>
          <p:cNvSpPr txBox="1"/>
          <p:nvPr/>
        </p:nvSpPr>
        <p:spPr>
          <a:xfrm>
            <a:off x="11239805" y="5143500"/>
            <a:ext cx="5334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100년 빈도 강우 시 </a:t>
            </a:r>
            <a:pPr algn="l" indent="0" marL="0">
              <a:buNone/>
            </a:pPr>
            <a:r>
              <a:rPr lang="en-US" sz="18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유출량 감소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100m² 부지 / 500mm 저수층 기준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11239805" y="7429500"/>
            <a:ext cx="1835201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25</a:t>
            </a:r>
            <a:pPr algn="l" indent="0" marL="0">
              <a:buNone/>
            </a:pPr>
            <a:r>
              <a:rPr lang="en-US" sz="2200" b="1" dirty="0">
                <a:solidFill>
                  <a:srgbClr val="5466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년</a:t>
            </a:r>
            <a:endParaRPr lang="en-US" sz="4800" dirty="0"/>
          </a:p>
        </p:txBody>
      </p:sp>
      <p:sp>
        <p:nvSpPr>
          <p:cNvPr id="22" name="Text 15"/>
          <p:cNvSpPr txBox="1"/>
          <p:nvPr/>
        </p:nvSpPr>
        <p:spPr>
          <a:xfrm>
            <a:off x="11239805" y="8096098"/>
            <a:ext cx="145389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구조물 수명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12915900" y="7429500"/>
            <a:ext cx="2392985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32</a:t>
            </a:r>
            <a:pPr algn="l" indent="0" marL="0">
              <a:buNone/>
            </a:pPr>
            <a:r>
              <a:rPr lang="en-US" sz="2200" b="1" dirty="0">
                <a:solidFill>
                  <a:srgbClr val="5466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~45%</a:t>
            </a:r>
            <a:endParaRPr lang="en-US" sz="4800" dirty="0"/>
          </a:p>
        </p:txBody>
      </p:sp>
      <p:sp>
        <p:nvSpPr>
          <p:cNvPr id="24" name="Text 17"/>
          <p:cNvSpPr txBox="1"/>
          <p:nvPr/>
        </p:nvSpPr>
        <p:spPr>
          <a:xfrm>
            <a:off x="12915900" y="8096098"/>
            <a:ext cx="164409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저수층 목표 공극률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333195" y="9620402"/>
            <a:ext cx="50063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OPEN-GRADED CRUSHED STONE · SUB-BASE RESERVOIR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6364102" y="9620402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/ 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190902"/>
            <a:ext cx="5905195" cy="7429500"/>
          </a:xfrm>
          <a:prstGeom prst="rect">
            <a:avLst/>
          </a:prstGeom>
          <a:solidFill>
            <a:srgbClr val="0F1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29500" y="3905402"/>
            <a:ext cx="9905695" cy="761695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6" name="Shape 4"/>
          <p:cNvSpPr/>
          <p:nvPr/>
        </p:nvSpPr>
        <p:spPr>
          <a:xfrm>
            <a:off x="7429500" y="3905402"/>
            <a:ext cx="57607" cy="761695"/>
          </a:xfrm>
          <a:prstGeom prst="rect">
            <a:avLst/>
          </a:prstGeom>
          <a:solidFill>
            <a:srgbClr val="B14A2A"/>
          </a:solidFill>
          <a:ln w="12700">
            <a:solidFill>
              <a:srgbClr val="B14A2A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29500" y="4953305"/>
            <a:ext cx="4858207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77902" y="4953305"/>
            <a:ext cx="4858207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pic>
        <p:nvPicPr>
          <p:cNvPr id="9" name="Image 0" descr="gen-dedup-667b8d1939c0b3eacda77cf2116996f8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524305" y="8667598"/>
            <a:ext cx="5143500" cy="761695"/>
          </a:xfrm>
          <a:prstGeom prst="rect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29500" y="4953305"/>
            <a:ext cx="4858207" cy="761695"/>
          </a:xfrm>
          <a:prstGeom prst="rect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477902" y="4953305"/>
            <a:ext cx="4858207" cy="761695"/>
          </a:xfrm>
          <a:prstGeom prst="rect">
            <a:avLst/>
          </a:prstGeom>
          <a:solidFill>
            <a:srgbClr val="8B6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43000" y="571500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 · 한 장 요약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914400"/>
            <a:ext cx="16193110" cy="715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이 과제인가, 무엇이 다른가</a:t>
            </a:r>
            <a:endParaRPr lang="en-US" sz="4500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2476195"/>
            <a:ext cx="5143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5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· 왜 필요한가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524305" y="2857500"/>
            <a:ext cx="514350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홍수는 늘어나는데,</a:t>
            </a:r>
            <a:pPr algn="l" indent="0" marL="0">
              <a:buNone/>
            </a:pP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땅 위에는 더 둘 공간이 없다.</a:t>
            </a:r>
            <a:endParaRPr lang="en-US" sz="2500" dirty="0"/>
          </a:p>
        </p:txBody>
      </p:sp>
      <p:sp>
        <p:nvSpPr>
          <p:cNvPr id="17" name="Shape 14"/>
          <p:cNvSpPr/>
          <p:nvPr/>
        </p:nvSpPr>
        <p:spPr>
          <a:xfrm>
            <a:off x="1524305" y="4629607"/>
            <a:ext cx="5143500" cy="9144"/>
          </a:xfrm>
          <a:prstGeom prst="rect">
            <a:avLst/>
          </a:prstGeom>
          <a:solidFill>
            <a:srgbClr val="54666F"/>
          </a:solidFill>
          <a:ln w="12700">
            <a:solidFill>
              <a:srgbClr val="54666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24305" y="4000500"/>
            <a:ext cx="12198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+35</a:t>
            </a:r>
            <a:pPr algn="l" indent="0" marL="0">
              <a:buNone/>
            </a:pPr>
            <a:r>
              <a:rPr lang="en-US" sz="15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2461565" y="4000500"/>
            <a:ext cx="42108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20년 시간당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80mm 이상 강우 빈도</a:t>
            </a:r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증가 — 기존 grey 인프라의 설계 용량 상시 초과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524305" y="5896051"/>
            <a:ext cx="5143500" cy="9144"/>
          </a:xfrm>
          <a:prstGeom prst="rect">
            <a:avLst/>
          </a:prstGeom>
          <a:solidFill>
            <a:srgbClr val="54666F"/>
          </a:solidFill>
          <a:ln w="12700">
            <a:solidFill>
              <a:srgbClr val="54666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524305" y="4809744"/>
            <a:ext cx="7818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2.4</a:t>
            </a:r>
            <a:pPr algn="l" indent="0" marL="0">
              <a:buNone/>
            </a:pPr>
            <a:r>
              <a:rPr lang="en-US" sz="15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조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2469794" y="4809744"/>
            <a:ext cx="42007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환경부 ‘스펀지도로’ 사업 (2024–2030) —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정책은 지정, 국가 설계기준은 부재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524305" y="7162495"/>
            <a:ext cx="5143500" cy="9144"/>
          </a:xfrm>
          <a:prstGeom prst="rect">
            <a:avLst/>
          </a:prstGeom>
          <a:solidFill>
            <a:srgbClr val="54666F"/>
          </a:solidFill>
          <a:ln w="12700">
            <a:solidFill>
              <a:srgbClr val="54666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524305" y="6077102"/>
            <a:ext cx="7818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&lt; 3</a:t>
            </a:r>
            <a:pPr algn="l" indent="0" marL="0">
              <a:buNone/>
            </a:pPr>
            <a:r>
              <a:rPr lang="en-US" sz="15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2473452" y="6077102"/>
            <a:ext cx="42007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1.8조원 하층토 시장 중 개방형/저수형 점유율 —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공백이 곧 기회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524305" y="7343546"/>
            <a:ext cx="146029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500</a:t>
            </a:r>
            <a:pPr algn="l" indent="0" marL="0">
              <a:buNone/>
            </a:pPr>
            <a:r>
              <a:rPr lang="en-US" sz="15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m²+</a:t>
            </a:r>
            <a:endParaRPr lang="en-US" sz="3600" dirty="0"/>
          </a:p>
        </p:txBody>
      </p:sp>
      <p:sp>
        <p:nvSpPr>
          <p:cNvPr id="27" name="Text 24"/>
          <p:cNvSpPr txBox="1"/>
          <p:nvPr/>
        </p:nvSpPr>
        <p:spPr>
          <a:xfrm>
            <a:off x="2612441" y="7343546"/>
            <a:ext cx="4058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녹색인프라 2030 — 신규 도로사업 빗물 유출원 제어 의무화.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수요는 이미 강제됨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714500" y="8858707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10" kern="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NEED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714500" y="9087307"/>
            <a:ext cx="5647334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구조성능 + 저류 + 표준화를 동시에 푸는 통합 시스템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429500" y="2476195"/>
            <a:ext cx="9906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405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DIFFERENTIATION · 무엇이 다른가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429500" y="2857500"/>
            <a:ext cx="990661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2개 보유기술 위에 </a:t>
            </a:r>
            <a:pPr algn="l" indent="0" marL="0">
              <a:buNone/>
            </a:pPr>
            <a:r>
              <a:rPr lang="en-US" sz="25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저류 기능</a:t>
            </a:r>
            <a:pPr algn="l" indent="0" marL="0">
              <a:buNone/>
            </a:pPr>
            <a:r>
              <a:rPr lang="en-US" sz="2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얹은 통합 시스템</a:t>
            </a:r>
            <a:endParaRPr lang="en-US" sz="2500" dirty="0"/>
          </a:p>
        </p:txBody>
      </p:sp>
      <p:sp>
        <p:nvSpPr>
          <p:cNvPr id="32" name="Text 29"/>
          <p:cNvSpPr txBox="1"/>
          <p:nvPr/>
        </p:nvSpPr>
        <p:spPr>
          <a:xfrm>
            <a:off x="7715707" y="4143146"/>
            <a:ext cx="97292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10" kern="0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EXISTING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769096" y="4095598"/>
            <a:ext cx="753557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조밀 입도 하부기층 — </a:t>
            </a:r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지지 단일 기능</a:t>
            </a:r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공극 5~10% · 저류 불가능 · 설계기준 미정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715707" y="5143500"/>
            <a:ext cx="147584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10" kern="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TECH 01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563149" y="5143500"/>
            <a:ext cx="186354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10년+ · 2,000건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715707" y="5391302"/>
            <a:ext cx="42867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개량형 골재 선별·배합 장치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7715707" y="5905195"/>
            <a:ext cx="428670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45mm 최대골재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정밀 선별·배합 → 본 과제의 </a:t>
            </a:r>
            <a:pPr algn="l" indent="0" marL="0">
              <a:buNone/>
            </a:pPr>
            <a:r>
              <a:rPr lang="en-US" sz="12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75mm 저수용 골재로 확장 적용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입도가 정밀할수록 공극률·투수성·맞물림이 동시에 최적화.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715707" y="6916522"/>
            <a:ext cx="2076602" cy="952805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15707" y="6916522"/>
            <a:ext cx="38405" cy="952805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886700" y="7050024"/>
            <a:ext cx="1772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45° ↑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7886700" y="7354519"/>
            <a:ext cx="1772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쇄석 내부마찰각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변형 극소화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924898" y="6916522"/>
            <a:ext cx="2076602" cy="952805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43" name="Shape 40"/>
          <p:cNvSpPr/>
          <p:nvPr/>
        </p:nvSpPr>
        <p:spPr>
          <a:xfrm>
            <a:off x="9924898" y="6916522"/>
            <a:ext cx="38405" cy="952805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096805" y="7050024"/>
            <a:ext cx="1772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2,000</a:t>
            </a:r>
            <a:pPr algn="l" indent="0" marL="0">
              <a:buNone/>
            </a:pPr>
            <a:r>
              <a:rPr lang="en-US" sz="10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건+</a:t>
            </a:r>
            <a:endParaRPr lang="en-US" sz="2100" dirty="0"/>
          </a:p>
        </p:txBody>
      </p:sp>
      <p:sp>
        <p:nvSpPr>
          <p:cNvPr id="45" name="Text 42"/>
          <p:cNvSpPr txBox="1"/>
          <p:nvPr/>
        </p:nvSpPr>
        <p:spPr>
          <a:xfrm>
            <a:off x="10096805" y="7354519"/>
            <a:ext cx="1772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기초보강재 실적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토목학회 검증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715707" y="8040319"/>
            <a:ext cx="4286707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715707" y="8182966"/>
            <a:ext cx="428670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pPr algn="l" indent="0" marL="0">
              <a:buNone/>
            </a:pPr>
            <a:r>
              <a:rPr lang="en-US" sz="11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저수층 공극률 32% + 투수성 140 mm/hr</a:t>
            </a:r>
            <a:pPr algn="l" indent="0" marL="0">
              <a:buNone/>
            </a:pPr>
            <a:r>
              <a:rPr lang="en-US" sz="11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동시 달성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12763195" y="5143500"/>
            <a:ext cx="147584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10" kern="0" dirty="0">
                <a:solidFill>
                  <a:srgbClr val="F0E2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TECH 02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6044977" y="5143500"/>
            <a:ext cx="119603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F0E2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3차원 셀 구속력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2763195" y="5391302"/>
            <a:ext cx="42867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하이셀(HiCell) 기초 공법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12763195" y="5905195"/>
            <a:ext cx="428670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벌집 셀이 자갈을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3차원으로 구속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응력 집중 → </a:t>
            </a:r>
            <a:pPr algn="l" indent="0" marL="0">
              <a:buNone/>
            </a:pPr>
            <a:r>
              <a:rPr lang="en-US" sz="1200" b="1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응력 분산 벌브로 전환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연약지반에서 지지력 증대 · 측방 유동 억제 · 침하 최소화.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2763195" y="6916522"/>
            <a:ext cx="2076602" cy="952805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53" name="Shape 50"/>
          <p:cNvSpPr/>
          <p:nvPr/>
        </p:nvSpPr>
        <p:spPr>
          <a:xfrm>
            <a:off x="12763195" y="6916522"/>
            <a:ext cx="38405" cy="952805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2935102" y="7050024"/>
            <a:ext cx="1772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20–50</a:t>
            </a:r>
            <a:pPr algn="l" indent="0" marL="0">
              <a:buNone/>
            </a:pPr>
            <a:r>
              <a:rPr lang="en-US" sz="13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100" dirty="0"/>
          </a:p>
        </p:txBody>
      </p:sp>
      <p:sp>
        <p:nvSpPr>
          <p:cNvPr id="55" name="Text 52"/>
          <p:cNvSpPr txBox="1"/>
          <p:nvPr/>
        </p:nvSpPr>
        <p:spPr>
          <a:xfrm>
            <a:off x="12935102" y="7354519"/>
            <a:ext cx="1772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지지력 향상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응력 감소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4973300" y="6916522"/>
            <a:ext cx="2076602" cy="952805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57" name="Shape 54"/>
          <p:cNvSpPr/>
          <p:nvPr/>
        </p:nvSpPr>
        <p:spPr>
          <a:xfrm>
            <a:off x="14973300" y="6916522"/>
            <a:ext cx="38405" cy="952805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5145207" y="7050024"/>
            <a:ext cx="17721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반강성</a:t>
            </a:r>
            <a:pPr algn="l" indent="0" marL="0">
              <a:buNone/>
            </a:pPr>
            <a:r>
              <a:rPr lang="en-US" sz="10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매트</a:t>
            </a:r>
            <a:endParaRPr lang="en-US" sz="2100" dirty="0"/>
          </a:p>
        </p:txBody>
      </p:sp>
      <p:sp>
        <p:nvSpPr>
          <p:cNvPr id="59" name="Text 56"/>
          <p:cNvSpPr txBox="1"/>
          <p:nvPr/>
        </p:nvSpPr>
        <p:spPr>
          <a:xfrm>
            <a:off x="15145207" y="7354519"/>
            <a:ext cx="17721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대·소 입자 맞물림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측방 유동 억제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2763195" y="8040319"/>
            <a:ext cx="4286707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2763195" y="8182966"/>
            <a:ext cx="4286707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1397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pPr algn="l" indent="0" marL="0">
              <a:buNone/>
            </a:pPr>
            <a:r>
              <a:rPr lang="en-US" sz="11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연약지반·점토 부지에서도 25년 수명</a:t>
            </a:r>
            <a:pPr algn="l" indent="0" marL="0">
              <a:buNone/>
            </a:pPr>
            <a:r>
              <a:rPr lang="en-US" sz="11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확보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1143000" y="9810598"/>
            <a:ext cx="447324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 · Why &amp; Differentiation</a:t>
            </a:r>
            <a:endParaRPr lang="en-US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16554298" y="9810598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19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67b8d1939c0b3eacda77cf2116996f8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0" y="0"/>
            <a:ext cx="18288000" cy="576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43000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495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638605"/>
            <a:ext cx="571500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목차</a:t>
            </a:r>
            <a:endParaRPr lang="en-US" sz="72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819095"/>
            <a:ext cx="5715000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발표는 총 6개 장으로 구성되며,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Summary부터 실증 계획까지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10분간 진행됩니다.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1333195"/>
            <a:ext cx="6675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★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9277502" y="1333195"/>
            <a:ext cx="64008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277502" y="1723644"/>
            <a:ext cx="6400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이 과제인가 + 2개 보유기술 차별화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5906902" y="1333195"/>
            <a:ext cx="1239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p.02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382305" y="2190902"/>
            <a:ext cx="6675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9277502" y="2190902"/>
            <a:ext cx="64008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개요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277502" y="2581351"/>
            <a:ext cx="6400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지금, 이 기술이 필요한가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5906902" y="2190902"/>
            <a:ext cx="1239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p.04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382305" y="3047695"/>
            <a:ext cx="6675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700" dirty="0"/>
          </a:p>
        </p:txBody>
      </p:sp>
      <p:sp>
        <p:nvSpPr>
          <p:cNvPr id="17" name="Text 14"/>
          <p:cNvSpPr txBox="1"/>
          <p:nvPr/>
        </p:nvSpPr>
        <p:spPr>
          <a:xfrm>
            <a:off x="9277502" y="3047695"/>
            <a:ext cx="64008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특징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9277502" y="3438144"/>
            <a:ext cx="6400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시장·국내외 동향 · 핵심 기술 · 시스템 단면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5906902" y="3047695"/>
            <a:ext cx="1239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p.05–10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382305" y="3905402"/>
            <a:ext cx="6675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700" dirty="0"/>
          </a:p>
        </p:txBody>
      </p:sp>
      <p:sp>
        <p:nvSpPr>
          <p:cNvPr id="21" name="Text 18"/>
          <p:cNvSpPr txBox="1"/>
          <p:nvPr/>
        </p:nvSpPr>
        <p:spPr>
          <a:xfrm>
            <a:off x="9277502" y="3905402"/>
            <a:ext cx="64008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 — 보유기술 2종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277502" y="4295851"/>
            <a:ext cx="6400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골재 선별·배합 장치 + 하이셀 공법 + TRL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5906902" y="3905402"/>
            <a:ext cx="1239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p.11–13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382305" y="4762195"/>
            <a:ext cx="6675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700" dirty="0"/>
          </a:p>
        </p:txBody>
      </p:sp>
      <p:sp>
        <p:nvSpPr>
          <p:cNvPr id="25" name="Text 22"/>
          <p:cNvSpPr txBox="1"/>
          <p:nvPr/>
        </p:nvSpPr>
        <p:spPr>
          <a:xfrm>
            <a:off x="9277502" y="4762195"/>
            <a:ext cx="64008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9277502" y="5152644"/>
            <a:ext cx="6400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· 경제 · 사회 · 환경적 파급력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5906902" y="4762195"/>
            <a:ext cx="1239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p.14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382305" y="5619902"/>
            <a:ext cx="6675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2700" dirty="0"/>
          </a:p>
        </p:txBody>
      </p:sp>
      <p:sp>
        <p:nvSpPr>
          <p:cNvPr id="29" name="Text 26"/>
          <p:cNvSpPr txBox="1"/>
          <p:nvPr/>
        </p:nvSpPr>
        <p:spPr>
          <a:xfrm>
            <a:off x="9277502" y="5619902"/>
            <a:ext cx="64008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실증 계획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9277502" y="6010351"/>
            <a:ext cx="64008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홍수설계 · 시공 · 운영·모니터링 · 부지 · KPI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5906902" y="5619902"/>
            <a:ext cx="1239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p.15–18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9715500"/>
            <a:ext cx="36164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입도 쇄석 하부기층 저수시스템 개발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6554298" y="9715500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/ 19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095598"/>
            <a:ext cx="5143500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72707" y="4095598"/>
            <a:ext cx="5143500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0" y="4095598"/>
            <a:ext cx="5143500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pic>
        <p:nvPicPr>
          <p:cNvPr id="7" name="Image 0" descr="gen-dedup-b55cbe6f9f7902611bc73a2bde403358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" y="3619195"/>
            <a:ext cx="16002000" cy="9144"/>
          </a:xfrm>
          <a:prstGeom prst="rect">
            <a:avLst/>
          </a:prstGeom>
        </p:spPr>
      </p:pic>
      <p:pic>
        <p:nvPicPr>
          <p:cNvPr id="8" name="Image 1" descr="gen-dedup-05ff1fffbcd655c1253390aa4e9e8e7a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pic>
        <p:nvPicPr>
          <p:cNvPr id="9" name="Image 2" descr="gen-dedup-35da3d67cc7adbcd47821b222ae269d1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143000" y="4095598"/>
            <a:ext cx="5143500" cy="57607"/>
          </a:xfrm>
          <a:prstGeom prst="rect">
            <a:avLst/>
          </a:prstGeom>
        </p:spPr>
      </p:pic>
      <p:pic>
        <p:nvPicPr>
          <p:cNvPr id="10" name="Image 3" descr="gen-dedup-2d7db5f48e2d8dc75f76cc16b00f8492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6572707" y="4095598"/>
            <a:ext cx="5143500" cy="57607"/>
          </a:xfrm>
          <a:prstGeom prst="rect">
            <a:avLst/>
          </a:prstGeom>
        </p:spPr>
      </p:pic>
      <p:pic>
        <p:nvPicPr>
          <p:cNvPr id="11" name="Image 4" descr="gen-dedup-1fcfa2cd8bbba8c11e7dc96aa2a5b589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2001500" y="4095598"/>
            <a:ext cx="5143500" cy="57607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43000" y="952805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기술 개요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1410005"/>
            <a:ext cx="12382805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투수포장 아래 ‘비어 있는’ 공간을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도시 홍수의 해법으로 전환합니다</a:t>
            </a:r>
            <a:endParaRPr lang="en-US" sz="48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2979115"/>
            <a:ext cx="123828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포장면 하부의 </a:t>
            </a:r>
            <a:pPr algn="l" indent="0" marL="0">
              <a:buNone/>
            </a:pPr>
            <a:r>
              <a:rPr lang="en-US" sz="16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입도 쇄석층(공극률 30~40%)</a:t>
            </a:r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빗물을 저장·침투·정화시키는 통합 시스템입니다. 구조적 지지력은 유지한 채 수문학적 기능을 더한, ‘구조+저류’ 복합 하부기층 기술입니다.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1524305" y="4438498"/>
            <a:ext cx="4381805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6700" dirty="0"/>
          </a:p>
        </p:txBody>
      </p:sp>
      <p:sp>
        <p:nvSpPr>
          <p:cNvPr id="16" name="Text 9"/>
          <p:cNvSpPr txBox="1"/>
          <p:nvPr/>
        </p:nvSpPr>
        <p:spPr>
          <a:xfrm>
            <a:off x="1524305" y="5372100"/>
            <a:ext cx="4381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저류 (Storage)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524305" y="5829300"/>
            <a:ext cx="4381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spc="71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RAINWATER STORAGE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1524305" y="6314846"/>
            <a:ext cx="4381805" cy="1295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각형 가공된 개방형 입도 쇄석(25–75mm, 공극률 32%)에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 L/m³ 이상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물을 단기 저장하여 도시 유출수의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유출량을 60~75% 저감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첨두유량 발생을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30~90분 지연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시킵니다.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6953098" y="4438498"/>
            <a:ext cx="4381805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7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6700" dirty="0"/>
          </a:p>
        </p:txBody>
      </p:sp>
      <p:sp>
        <p:nvSpPr>
          <p:cNvPr id="20" name="Text 13"/>
          <p:cNvSpPr txBox="1"/>
          <p:nvPr/>
        </p:nvSpPr>
        <p:spPr>
          <a:xfrm>
            <a:off x="6953098" y="5372100"/>
            <a:ext cx="4381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정화 (Filtration)</a:t>
            </a:r>
            <a:endParaRPr lang="en-US" sz="2200" dirty="0"/>
          </a:p>
        </p:txBody>
      </p:sp>
      <p:sp>
        <p:nvSpPr>
          <p:cNvPr id="21" name="Text 14"/>
          <p:cNvSpPr txBox="1"/>
          <p:nvPr/>
        </p:nvSpPr>
        <p:spPr>
          <a:xfrm>
            <a:off x="6953098" y="5829300"/>
            <a:ext cx="4381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spc="71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MULTI-LAYER FILTERING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6953098" y="6314846"/>
            <a:ext cx="4381805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막힘방지층 + 부직포 지오텍스타일이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‘생물 필터’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역할을 수행하여 총부유물질(TSS)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85% 이상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총인 70% 이상, 중금속 60% 이상을 제거합니다.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382805" y="4438498"/>
            <a:ext cx="4381805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700" b="1" dirty="0">
                <a:solidFill>
                  <a:srgbClr val="3A6B7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6700" dirty="0"/>
          </a:p>
        </p:txBody>
      </p:sp>
      <p:sp>
        <p:nvSpPr>
          <p:cNvPr id="24" name="Text 17"/>
          <p:cNvSpPr txBox="1"/>
          <p:nvPr/>
        </p:nvSpPr>
        <p:spPr>
          <a:xfrm>
            <a:off x="12382805" y="5372100"/>
            <a:ext cx="43818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지능화 (Smart)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12382805" y="5829300"/>
            <a:ext cx="43818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spc="71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EMBEDDED SENSING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12382805" y="6314846"/>
            <a:ext cx="4381805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내장형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수위 · 공극압 · 침하 센서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실시간 막힘과 변형을 감지하여 상태기반 유지관리를 가능하게 하고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생애주기 비용을 20~30% 절감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143000" y="9620402"/>
            <a:ext cx="109545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기술 개요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6554298" y="9620402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/ 19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143707"/>
            <a:ext cx="16002000" cy="1904695"/>
          </a:xfrm>
          <a:prstGeom prst="rect">
            <a:avLst/>
          </a:prstGeom>
          <a:solidFill>
            <a:srgbClr val="0F1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6717c7facd22fa1bd0466ee00ae53513.png">    </p:cNvPr>
          <p:cNvPicPr>
            <a:picLocks noChangeAspect="1"/>
          </p:cNvPicPr>
          <p:nvPr/>
        </p:nvPicPr>
        <p:blipFill>
          <a:blip r:embed="rId1"/>
          <a:srcRect l="0" r="0" t="-2078" b="-2078"/>
          <a:stretch/>
        </p:blipFill>
        <p:spPr>
          <a:xfrm>
            <a:off x="9334195" y="5524805"/>
            <a:ext cx="9144" cy="3619195"/>
          </a:xfrm>
          <a:prstGeom prst="rect">
            <a:avLst/>
          </a:prstGeom>
        </p:spPr>
      </p:pic>
      <p:pic>
        <p:nvPicPr>
          <p:cNvPr id="6" name="Image 1" descr="gen-dedup-05ff1fffbcd655c1253390aa4e9e8e7a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952805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기술 특징 — 산업 동향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410005"/>
            <a:ext cx="18031054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기후위기와 도시화, 그리고 </a:t>
            </a:r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제도 강제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시장을 견인합니다</a:t>
            </a:r>
            <a:endParaRPr lang="en-US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1524305" y="3429000"/>
            <a:ext cx="4629607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+35</a:t>
            </a:r>
            <a:pPr algn="l" indent="0" marL="0">
              <a:buNone/>
            </a:pPr>
            <a:r>
              <a:rPr lang="en-US" sz="27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1524305" y="4286707"/>
            <a:ext cx="46296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68" kern="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집중호우 발생 빈도 증가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524305" y="4572000"/>
            <a:ext cx="4629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E95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20년, 시간당 80mm 이상 강우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924751" y="3429000"/>
            <a:ext cx="49149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92.7</a:t>
            </a:r>
            <a:pPr algn="l" indent="0" marL="0">
              <a:buNone/>
            </a:pPr>
            <a:r>
              <a:rPr lang="en-US" sz="22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mm/hr</a:t>
            </a:r>
            <a:endParaRPr lang="en-US" sz="6000" dirty="0"/>
          </a:p>
        </p:txBody>
      </p:sp>
      <p:sp>
        <p:nvSpPr>
          <p:cNvPr id="13" name="Text 9"/>
          <p:cNvSpPr txBox="1"/>
          <p:nvPr/>
        </p:nvSpPr>
        <p:spPr>
          <a:xfrm>
            <a:off x="6924751" y="4286707"/>
            <a:ext cx="46296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68" kern="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 기록 시간당 강우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924751" y="4572000"/>
            <a:ext cx="4629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E95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목표 투수성 140 mm/hr (150%)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2325198" y="3429000"/>
            <a:ext cx="4629607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2.4</a:t>
            </a:r>
            <a:pPr algn="l" indent="0" marL="0">
              <a:buNone/>
            </a:pPr>
            <a:r>
              <a:rPr lang="en-US" sz="22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조원</a:t>
            </a:r>
            <a:endParaRPr lang="en-US" sz="6000" dirty="0"/>
          </a:p>
        </p:txBody>
      </p:sp>
      <p:sp>
        <p:nvSpPr>
          <p:cNvPr id="16" name="Text 12"/>
          <p:cNvSpPr txBox="1"/>
          <p:nvPr/>
        </p:nvSpPr>
        <p:spPr>
          <a:xfrm>
            <a:off x="12325198" y="4286707"/>
            <a:ext cx="46296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68" kern="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환경부 홍수방지 도시사업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2325198" y="4572000"/>
            <a:ext cx="46296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E95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2024–2030 ‘스펀지도로’ 투자계획</a:t>
            </a:r>
            <a:endParaRPr lang="en-US" sz="1200" dirty="0"/>
          </a:p>
        </p:txBody>
      </p:sp>
      <p:pic>
        <p:nvPicPr>
          <p:cNvPr id="18" name="Image 2" descr="gen-dedup-4f3b9a48f287abb59e074ef528f38822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0" r="0" t="-2083" b="-2083"/>
          <a:stretch/>
        </p:blipFill>
        <p:spPr>
          <a:xfrm>
            <a:off x="6534302" y="3429000"/>
            <a:ext cx="9144" cy="1371600"/>
          </a:xfrm>
          <a:prstGeom prst="rect">
            <a:avLst/>
          </a:prstGeom>
        </p:spPr>
      </p:pic>
      <p:pic>
        <p:nvPicPr>
          <p:cNvPr id="19" name="Image 3" descr="gen-dedup-4f3b9a48f287abb59e074ef528f38822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l="0" r="0" t="-2083" b="-2083"/>
          <a:stretch/>
        </p:blipFill>
        <p:spPr>
          <a:xfrm>
            <a:off x="11934749" y="3429000"/>
            <a:ext cx="9144" cy="1371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5524805"/>
            <a:ext cx="7810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 DRIVER · 정책 강제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143000" y="5848502"/>
            <a:ext cx="78108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물순환체계 구축 · 생태면적 확보 의무화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1143000" y="6366053"/>
            <a:ext cx="7810805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물환경보전법 · 환경부 LID 가이드라인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기후위기 대응 물순환 회복을 위한 분산형 빗물관리 의무화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녹색인프라 2030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500m² 이상 신규 도로 사업에 빗물 유출원 제어 의무화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물관리기본법 / 자연재해대책법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풍수해 예방 + 우수유출 저감 시설 확대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715500" y="5524805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TECHNOLOGY GAP · 기술 공백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9715500" y="5848502"/>
            <a:ext cx="7429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투수포장은 성숙, 그러나 하부기층은 단편적</a:t>
            </a:r>
            <a:endParaRPr lang="en-US" sz="2100" dirty="0"/>
          </a:p>
        </p:txBody>
      </p:sp>
      <p:sp>
        <p:nvSpPr>
          <p:cNvPr id="25" name="Text 19"/>
          <p:cNvSpPr txBox="1"/>
          <p:nvPr/>
        </p:nvSpPr>
        <p:spPr>
          <a:xfrm>
            <a:off x="9715500" y="6366053"/>
            <a:ext cx="7429500" cy="94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투수아스콘·투수블록 등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표층 기술은 일정 수준 성과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도달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그러나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하부 저수시스템 연구는 제한적·단편적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수준에 머무름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</a:t>
            </a:r>
            <a:pPr algn="l" indent="0" marL="0">
              <a:buNone/>
            </a:pPr>
            <a:r>
              <a:rPr lang="en-US" sz="1500" b="1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설계기준 / 시공지침 부재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표준화된 절차 없이 시범사업만 산재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143000" y="9620402"/>
            <a:ext cx="21762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기술 특징 · 산업 동향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6554298" y="9620402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/ 19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2952598"/>
            <a:ext cx="7810805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34195" y="2952598"/>
            <a:ext cx="7810805" cy="64766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952598"/>
            <a:ext cx="7810805" cy="761695"/>
          </a:xfrm>
          <a:prstGeom prst="rect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2de2dcd0a5652c12db79d20593a672e2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524305" y="5905195"/>
            <a:ext cx="7048195" cy="9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34195" y="2952598"/>
            <a:ext cx="7810805" cy="761695"/>
          </a:xfrm>
          <a:prstGeom prst="rect">
            <a:avLst/>
          </a:prstGeom>
          <a:solidFill>
            <a:srgbClr val="8B6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1" descr="gen-dedup-2de2dcd0a5652c12db79d20593a672e2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9715500" y="5905195"/>
            <a:ext cx="7048195" cy="9144"/>
          </a:xfrm>
          <a:prstGeom prst="rect">
            <a:avLst/>
          </a:prstGeom>
        </p:spPr>
      </p:pic>
      <p:pic>
        <p:nvPicPr>
          <p:cNvPr id="10" name="Image 2" descr="gen-dedup-05ff1fffbcd655c1253390aa4e9e8e7a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952805"/>
            <a:ext cx="5715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기술 특징 — 시장 동향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국내외 모두 </a:t>
            </a:r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‘grey → grey-green’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인프라 전환기</a:t>
            </a:r>
            <a:endParaRPr lang="en-US" sz="42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3143707"/>
            <a:ext cx="149595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시장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6676949" y="3295498"/>
            <a:ext cx="22439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270" kern="0" dirty="0">
                <a:solidFill>
                  <a:srgbClr val="C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DOMESTIC · KOREA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1524305" y="4095598"/>
            <a:ext cx="3100730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1.8</a:t>
            </a:r>
            <a:pPr algn="l" indent="0" marL="0">
              <a:buNone/>
            </a:pPr>
            <a:r>
              <a:rPr lang="en-US" sz="2700" b="1" dirty="0">
                <a:solidFill>
                  <a:srgbClr val="5466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조원</a:t>
            </a:r>
            <a:endParaRPr lang="en-US" sz="6600" dirty="0"/>
          </a:p>
        </p:txBody>
      </p:sp>
      <p:sp>
        <p:nvSpPr>
          <p:cNvPr id="16" name="Text 11"/>
          <p:cNvSpPr txBox="1"/>
          <p:nvPr/>
        </p:nvSpPr>
        <p:spPr>
          <a:xfrm>
            <a:off x="3672230" y="4677156"/>
            <a:ext cx="104790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국내 전체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하층토 시장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524305" y="5381244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개방형 입도/저수형 하층토는 </a:t>
            </a:r>
            <a:pPr algn="l" indent="0" marL="0">
              <a:buNone/>
            </a:pPr>
            <a:r>
              <a:rPr lang="en-US" sz="1300" b="1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3% 미만</a:t>
            </a:r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큰 성장 잠재력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524305" y="6191402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▣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886407" y="6238951"/>
            <a:ext cx="396301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2028년까지 연 800~1,200억원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규모로 성장 전망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정책 + 지자체 개보수사업 확대 견인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524305" y="7077456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▣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886407" y="7125005"/>
            <a:ext cx="3553358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환경부 ‘스펀지도로’ 사업 적격 공법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명시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2024~2030, 2.4조원 투자 계획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524305" y="7962595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▣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1886407" y="8048549"/>
            <a:ext cx="418338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도로구간 개보수에 가장 적합한 솔루션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1886407" y="8419795"/>
            <a:ext cx="37499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녹색인프라 2030 의무사업의 핵심 수혜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9715500" y="3143707"/>
            <a:ext cx="149595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시장</a:t>
            </a:r>
            <a:endParaRPr lang="en-US" sz="2400" dirty="0"/>
          </a:p>
        </p:txBody>
      </p:sp>
      <p:sp>
        <p:nvSpPr>
          <p:cNvPr id="26" name="Text 21"/>
          <p:cNvSpPr txBox="1"/>
          <p:nvPr/>
        </p:nvSpPr>
        <p:spPr>
          <a:xfrm>
            <a:off x="16105327" y="3295498"/>
            <a:ext cx="857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spc="270" kern="0" dirty="0">
                <a:solidFill>
                  <a:srgbClr val="F0E2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GLOBAL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9715500" y="4095598"/>
            <a:ext cx="3828593" cy="838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$10.4</a:t>
            </a:r>
            <a:pPr algn="l" indent="0" marL="0">
              <a:buNone/>
            </a:pPr>
            <a:r>
              <a:rPr lang="en-US" sz="2700" b="1" dirty="0">
                <a:solidFill>
                  <a:srgbClr val="5466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B</a:t>
            </a:r>
            <a:endParaRPr lang="en-US" sz="6600" dirty="0"/>
          </a:p>
        </p:txBody>
      </p:sp>
      <p:sp>
        <p:nvSpPr>
          <p:cNvPr id="28" name="Text 23"/>
          <p:cNvSpPr txBox="1"/>
          <p:nvPr/>
        </p:nvSpPr>
        <p:spPr>
          <a:xfrm>
            <a:off x="12473330" y="4677156"/>
            <a:ext cx="147675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2030년 빗물관리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시장 (전세계)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9715500" y="5381244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2023년 $5.8B → 연평균 </a:t>
            </a:r>
            <a:pPr algn="l" indent="0" marL="0">
              <a:buNone/>
            </a:pPr>
            <a:r>
              <a:rPr lang="en-US" sz="1300" b="1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+8.6%</a:t>
            </a:r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성장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9715500" y="6191402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▣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10077602" y="6238951"/>
            <a:ext cx="3448202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프랑스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쇄석 저수도로 연 </a:t>
            </a:r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1,000km+ 설치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SETRA/LCPC 기준, 실사용 25년+ 검증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9715500" y="7077456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▣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10077602" y="7125005"/>
            <a:ext cx="3105302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영국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SUDS 의무화로 시장 급성장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웨일스 2018, 잉글랜드 2024 신규개발 적용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9715500" y="7962595"/>
            <a:ext cx="2286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▣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0077602" y="8010144"/>
            <a:ext cx="3067812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미국·일본·호주</a:t>
            </a:r>
            <a:pPr algn="l" indent="0" marL="0">
              <a:buNone/>
            </a:pPr>
            <a:r>
              <a:rPr lang="en-US" sz="15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30년+ 성숙 기술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EPA·ASCE / 국토교통성 / FAWB 지침 운영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1143000" y="9620402"/>
            <a:ext cx="217627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기술 특징 · 시장 동향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16554298" y="9620402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19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9402" y="4476902"/>
            <a:ext cx="3238805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8598" y="4476902"/>
            <a:ext cx="3238805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58707" y="4476902"/>
            <a:ext cx="3238805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77902" y="4476902"/>
            <a:ext cx="4572000" cy="3619195"/>
          </a:xfrm>
          <a:prstGeom prst="rect">
            <a:avLst/>
          </a:prstGeom>
          <a:solidFill>
            <a:srgbClr val="FFF6EE"/>
          </a:solidFill>
          <a:ln w="12700">
            <a:solidFill>
              <a:srgbClr val="B14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8572500"/>
            <a:ext cx="16002000" cy="761695"/>
          </a:xfrm>
          <a:prstGeom prst="rect">
            <a:avLst/>
          </a:prstGeom>
          <a:solidFill>
            <a:srgbClr val="0F1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gen-dedup-cfcef8b9f8cf603a1c1ee5ba011c4af1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619402" y="4095598"/>
            <a:ext cx="15430500" cy="19202"/>
          </a:xfrm>
          <a:prstGeom prst="rect">
            <a:avLst/>
          </a:prstGeom>
        </p:spPr>
      </p:pic>
      <p:pic>
        <p:nvPicPr>
          <p:cNvPr id="10" name="Image 1" descr="gen-dedup-05ff1fffbcd655c1253390aa4e9e8e7a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90902" y="4000500"/>
            <a:ext cx="209398" cy="209398"/>
          </a:xfrm>
          <a:prstGeom prst="ellipse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810098" y="4000500"/>
            <a:ext cx="209398" cy="209398"/>
          </a:xfrm>
          <a:prstGeom prst="ellipse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430207" y="4000500"/>
            <a:ext cx="209398" cy="209398"/>
          </a:xfrm>
          <a:prstGeom prst="ellipse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049402" y="4000500"/>
            <a:ext cx="209398" cy="209398"/>
          </a:xfrm>
          <a:prstGeom prst="ellipse">
            <a:avLst/>
          </a:prstGeom>
          <a:solidFill>
            <a:srgbClr val="B14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기술 특징 — 국내외 기술 현황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국내에는 아직 </a:t>
            </a:r>
            <a:pPr algn="l" indent="0" marL="0">
              <a:buNone/>
            </a:pPr>
            <a:r>
              <a:rPr lang="en-US" sz="4200" b="1" dirty="0">
                <a:solidFill>
                  <a:srgbClr val="B14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국가 설계기준이 없습니다</a:t>
            </a:r>
            <a:endParaRPr lang="en-US" sz="42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2175358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시범사업은 산재하지만, 표준화된 설계·시공·유지관리 절차가 부재합니다.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1619402" y="3143707"/>
            <a:ext cx="28575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2016</a:t>
            </a:r>
            <a:endParaRPr lang="en-US" sz="2700" dirty="0"/>
          </a:p>
        </p:txBody>
      </p:sp>
      <p:sp>
        <p:nvSpPr>
          <p:cNvPr id="19" name="Text 15"/>
          <p:cNvSpPr txBox="1"/>
          <p:nvPr/>
        </p:nvSpPr>
        <p:spPr>
          <a:xfrm>
            <a:off x="1619402" y="3666744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한국건설기술연구원 (KICT)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238598" y="3143707"/>
            <a:ext cx="28575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2019</a:t>
            </a:r>
            <a:endParaRPr lang="en-US" sz="2700" dirty="0"/>
          </a:p>
        </p:txBody>
      </p:sp>
      <p:sp>
        <p:nvSpPr>
          <p:cNvPr id="21" name="Text 17"/>
          <p:cNvSpPr txBox="1"/>
          <p:nvPr/>
        </p:nvSpPr>
        <p:spPr>
          <a:xfrm>
            <a:off x="5238598" y="3666744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서울대학교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858707" y="3143707"/>
            <a:ext cx="28575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2020</a:t>
            </a:r>
            <a:endParaRPr lang="en-US" sz="2700" dirty="0"/>
          </a:p>
        </p:txBody>
      </p:sp>
      <p:sp>
        <p:nvSpPr>
          <p:cNvPr id="23" name="Text 19"/>
          <p:cNvSpPr txBox="1"/>
          <p:nvPr/>
        </p:nvSpPr>
        <p:spPr>
          <a:xfrm>
            <a:off x="8858707" y="3666744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한국토지주택공사 (LH)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477902" y="3143707"/>
            <a:ext cx="36201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14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2022</a:t>
            </a:r>
            <a:endParaRPr lang="en-US" sz="2700" dirty="0"/>
          </a:p>
        </p:txBody>
      </p:sp>
      <p:sp>
        <p:nvSpPr>
          <p:cNvPr id="25" name="Text 21"/>
          <p:cNvSpPr txBox="1"/>
          <p:nvPr/>
        </p:nvSpPr>
        <p:spPr>
          <a:xfrm>
            <a:off x="12477902" y="3666744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환경부 녹색인프라 시범사업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904695" y="4743907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배수 도로용 개방형 입도 골재 예비조사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904695" y="5421478"/>
            <a:ext cx="2667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공극률 </a:t>
            </a:r>
            <a:pPr algn="l" indent="0" marL="0">
              <a:buNone/>
            </a:pPr>
            <a:r>
              <a:rPr lang="en-US" sz="13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38%</a:t>
            </a:r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달성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반복하중 하에서의 </a:t>
            </a:r>
            <a:pPr algn="l" indent="0" marL="0">
              <a:buNone/>
            </a:pPr>
            <a:r>
              <a:rPr lang="en-US" sz="1300" b="1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구조적 성능 데이터 부족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524805" y="4743907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지오텍스타일-골재 계면 막힘현상 연구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5524805" y="5421478"/>
            <a:ext cx="2667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실험실 모의 도시 유출수 실험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입자크기 비율</a:t>
            </a:r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막힘의 핵심 매개변수 확인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9144000" y="4743907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세종 시범 주차장 300mm 쇄석 저류층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9144000" y="5421478"/>
            <a:ext cx="2667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투수블록 하부 적용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예비 모니터링 </a:t>
            </a:r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유출량 55% 감소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12763195" y="4743907"/>
            <a:ext cx="4000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전국 4개 지역 석재 저류요소 시범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12763195" y="5148986"/>
            <a:ext cx="40005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모니터링 데이터 미비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표준화된 설계 절차 미확정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국내 통일된 기술규범 부재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12763195" y="6124651"/>
            <a:ext cx="4000500" cy="9144"/>
          </a:xfrm>
          <a:prstGeom prst="rect">
            <a:avLst/>
          </a:prstGeom>
          <a:solidFill>
            <a:srgbClr val="B14A2A"/>
          </a:solidFill>
          <a:ln w="12700">
            <a:solidFill>
              <a:srgbClr val="B14A2A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12763195" y="6248095"/>
            <a:ext cx="4000500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0" rIns="114300" bIns="1143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본 과제가 채워야 할 </a:t>
            </a:r>
            <a:pPr algn="l" indent="0" marL="0">
              <a:buNone/>
            </a:pPr>
            <a:r>
              <a:rPr lang="en-US" sz="1200" b="1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 공백</a:t>
            </a:r>
            <a:endParaRPr lang="en-US" sz="1200" dirty="0"/>
          </a:p>
        </p:txBody>
      </p:sp>
      <p:sp>
        <p:nvSpPr>
          <p:cNvPr id="36" name="Text 32"/>
          <p:cNvSpPr txBox="1"/>
          <p:nvPr/>
        </p:nvSpPr>
        <p:spPr>
          <a:xfrm>
            <a:off x="1524305" y="8762695"/>
            <a:ext cx="15430500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결론 →</a:t>
            </a:r>
            <a:pPr algn="l" indent="0" marL="0">
              <a:buNone/>
            </a:pPr>
            <a:r>
              <a:rPr lang="en-US" sz="180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단편적 시범사업은 다수,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 설계기준 / 시공지침은 부재</a:t>
            </a:r>
            <a:pPr algn="l" indent="0" marL="0">
              <a:buNone/>
            </a:pPr>
            <a:r>
              <a:rPr lang="en-US" sz="180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본 과제는 통합 시스템 + KS 기준 제정안 수반.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1143000" y="9620402"/>
            <a:ext cx="27367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기술 특징 · 국내 기술 현황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16554298" y="9620402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/ 19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143707"/>
            <a:ext cx="8096098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25305" y="3143707"/>
            <a:ext cx="7619695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05695" y="4524451"/>
            <a:ext cx="3619195" cy="476402"/>
          </a:xfrm>
          <a:prstGeom prst="rect">
            <a:avLst/>
          </a:prstGeom>
          <a:solidFill>
            <a:srgbClr val="D9CFB6"/>
          </a:solidFill>
          <a:ln w="12700">
            <a:solidFill>
              <a:srgbClr val="C9C0AE"/>
            </a:solidFill>
            <a:prstDash val="solid"/>
          </a:ln>
        </p:spPr>
      </p:sp>
      <p:pic>
        <p:nvPicPr>
          <p:cNvPr id="7" name="Image 0" descr="gen-dedup-49465160b775a0ae1e5360f88b420635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9905695" y="5048402"/>
            <a:ext cx="3619195" cy="17145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905695" y="6810451"/>
            <a:ext cx="3619195" cy="286207"/>
          </a:xfrm>
          <a:prstGeom prst="rect">
            <a:avLst/>
          </a:prstGeom>
          <a:solidFill>
            <a:srgbClr val="9E8866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05695" y="7144207"/>
            <a:ext cx="3619195" cy="381305"/>
          </a:xfrm>
          <a:prstGeom prst="rect">
            <a:avLst/>
          </a:prstGeom>
          <a:solidFill>
            <a:srgbClr val="6B4F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gen-dedup-05ff1fffbcd655c1253390aa4e9e8e7a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기술 특징 — 핵심 기술 (1/2)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쇄석 자체의 </a:t>
            </a:r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물성·입도·배합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시스템의 출발점입니다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1524305" y="3429000"/>
            <a:ext cx="505663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2066544" y="3429000"/>
            <a:ext cx="347929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다공성 쇄석 생산 기술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1524305" y="3943807"/>
            <a:ext cx="7429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동결-융해 + 차량하중을 견디는 쇄석의 물리적 성능 확보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524305" y="4476902"/>
            <a:ext cx="3600907" cy="1543507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17" name="Shape 13"/>
          <p:cNvSpPr/>
          <p:nvPr/>
        </p:nvSpPr>
        <p:spPr>
          <a:xfrm>
            <a:off x="1524305" y="4476902"/>
            <a:ext cx="38405" cy="1543507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733702" y="4647895"/>
            <a:ext cx="3219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FREEZE–THAW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733702" y="4914900"/>
            <a:ext cx="32196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동결-융해 내구성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1733702" y="5266944"/>
            <a:ext cx="32196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≤ 30</a:t>
            </a:r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 손실</a:t>
            </a:r>
            <a:endParaRPr lang="en-US" sz="2700" dirty="0"/>
          </a:p>
        </p:txBody>
      </p:sp>
      <p:sp>
        <p:nvSpPr>
          <p:cNvPr id="21" name="Text 17"/>
          <p:cNvSpPr txBox="1"/>
          <p:nvPr/>
        </p:nvSpPr>
        <p:spPr>
          <a:xfrm>
            <a:off x="1733702" y="5648249"/>
            <a:ext cx="32196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 F 2508 건전성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52898" y="4476902"/>
            <a:ext cx="3600907" cy="1543507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23" name="Shape 19"/>
          <p:cNvSpPr/>
          <p:nvPr/>
        </p:nvSpPr>
        <p:spPr>
          <a:xfrm>
            <a:off x="5352898" y="4476902"/>
            <a:ext cx="38405" cy="1543507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562295" y="4647895"/>
            <a:ext cx="3219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L.A. ABRASION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562295" y="4914900"/>
            <a:ext cx="32196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마모성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562295" y="5266944"/>
            <a:ext cx="32196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&lt; 40</a:t>
            </a:r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700" dirty="0"/>
          </a:p>
        </p:txBody>
      </p:sp>
      <p:sp>
        <p:nvSpPr>
          <p:cNvPr id="27" name="Text 23"/>
          <p:cNvSpPr txBox="1"/>
          <p:nvPr/>
        </p:nvSpPr>
        <p:spPr>
          <a:xfrm>
            <a:off x="5562295" y="5648249"/>
            <a:ext cx="32196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경과 분진 방지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1524305" y="6191402"/>
            <a:ext cx="3600907" cy="1543507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29" name="Shape 25"/>
          <p:cNvSpPr/>
          <p:nvPr/>
        </p:nvSpPr>
        <p:spPr>
          <a:xfrm>
            <a:off x="1524305" y="6191402"/>
            <a:ext cx="38405" cy="1543507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733702" y="6362395"/>
            <a:ext cx="3219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INTERLOCK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733702" y="6629400"/>
            <a:ext cx="32196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맞물림 안정성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733702" y="6981444"/>
            <a:ext cx="32196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90</a:t>
            </a:r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 파쇄 각형</a:t>
            </a:r>
            <a:endParaRPr lang="en-US" sz="2700" dirty="0"/>
          </a:p>
        </p:txBody>
      </p:sp>
      <p:sp>
        <p:nvSpPr>
          <p:cNvPr id="33" name="Text 29"/>
          <p:cNvSpPr txBox="1"/>
          <p:nvPr/>
        </p:nvSpPr>
        <p:spPr>
          <a:xfrm>
            <a:off x="1733702" y="7362749"/>
            <a:ext cx="32196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상부 하중 분산 보장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352898" y="6191402"/>
            <a:ext cx="3600907" cy="1543507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35" name="Shape 31"/>
          <p:cNvSpPr/>
          <p:nvPr/>
        </p:nvSpPr>
        <p:spPr>
          <a:xfrm>
            <a:off x="5352898" y="6191402"/>
            <a:ext cx="38405" cy="1543507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562295" y="6362395"/>
            <a:ext cx="3219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PERMEABILITY (k)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562295" y="6629400"/>
            <a:ext cx="32196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투수성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5562295" y="6981444"/>
            <a:ext cx="32196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140</a:t>
            </a:r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mm/hr</a:t>
            </a:r>
            <a:endParaRPr lang="en-US" sz="2700" dirty="0"/>
          </a:p>
        </p:txBody>
      </p:sp>
      <p:sp>
        <p:nvSpPr>
          <p:cNvPr id="39" name="Text 35"/>
          <p:cNvSpPr txBox="1"/>
          <p:nvPr/>
        </p:nvSpPr>
        <p:spPr>
          <a:xfrm>
            <a:off x="5562295" y="7362749"/>
            <a:ext cx="32196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 강우기록의 150%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1524305" y="7905902"/>
            <a:ext cx="3600907" cy="1543507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41" name="Shape 37"/>
          <p:cNvSpPr/>
          <p:nvPr/>
        </p:nvSpPr>
        <p:spPr>
          <a:xfrm>
            <a:off x="1524305" y="7905902"/>
            <a:ext cx="38405" cy="1543507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1733702" y="8076895"/>
            <a:ext cx="3219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FINES &lt; 0.075mm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1733702" y="8343900"/>
            <a:ext cx="32196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미립자 함량</a:t>
            </a:r>
            <a:endParaRPr lang="en-US" sz="1500" dirty="0"/>
          </a:p>
        </p:txBody>
      </p:sp>
      <p:sp>
        <p:nvSpPr>
          <p:cNvPr id="44" name="Text 40"/>
          <p:cNvSpPr txBox="1"/>
          <p:nvPr/>
        </p:nvSpPr>
        <p:spPr>
          <a:xfrm>
            <a:off x="1733702" y="8695944"/>
            <a:ext cx="32196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≤ 2</a:t>
            </a:r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700" dirty="0"/>
          </a:p>
        </p:txBody>
      </p:sp>
      <p:sp>
        <p:nvSpPr>
          <p:cNvPr id="45" name="Text 41"/>
          <p:cNvSpPr txBox="1"/>
          <p:nvPr/>
        </p:nvSpPr>
        <p:spPr>
          <a:xfrm>
            <a:off x="1733702" y="9077249"/>
            <a:ext cx="32196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200번 체 통과율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5352898" y="7905902"/>
            <a:ext cx="3600907" cy="1543507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47" name="Shape 43"/>
          <p:cNvSpPr/>
          <p:nvPr/>
        </p:nvSpPr>
        <p:spPr>
          <a:xfrm>
            <a:off x="5352898" y="7905902"/>
            <a:ext cx="38405" cy="1543507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562295" y="8076895"/>
            <a:ext cx="32196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VOID RATIO</a:t>
            </a:r>
            <a:endParaRPr lang="en-US" sz="1200" dirty="0"/>
          </a:p>
        </p:txBody>
      </p:sp>
      <p:sp>
        <p:nvSpPr>
          <p:cNvPr id="49" name="Text 45"/>
          <p:cNvSpPr txBox="1"/>
          <p:nvPr/>
        </p:nvSpPr>
        <p:spPr>
          <a:xfrm>
            <a:off x="5562295" y="8343900"/>
            <a:ext cx="32196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공극률</a:t>
            </a:r>
            <a:endParaRPr lang="en-US" sz="1500" dirty="0"/>
          </a:p>
        </p:txBody>
      </p:sp>
      <p:sp>
        <p:nvSpPr>
          <p:cNvPr id="50" name="Text 46"/>
          <p:cNvSpPr txBox="1"/>
          <p:nvPr/>
        </p:nvSpPr>
        <p:spPr>
          <a:xfrm>
            <a:off x="5562295" y="8695944"/>
            <a:ext cx="32196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32</a:t>
            </a:r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~45%</a:t>
            </a:r>
            <a:endParaRPr lang="en-US" sz="2700" dirty="0"/>
          </a:p>
        </p:txBody>
      </p:sp>
      <p:sp>
        <p:nvSpPr>
          <p:cNvPr id="51" name="Text 47"/>
          <p:cNvSpPr txBox="1"/>
          <p:nvPr/>
        </p:nvSpPr>
        <p:spPr>
          <a:xfrm>
            <a:off x="5562295" y="9077249"/>
            <a:ext cx="32196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 L/m³ 저수 확보</a:t>
            </a:r>
            <a:endParaRPr lang="en-US" sz="1100" dirty="0"/>
          </a:p>
        </p:txBody>
      </p:sp>
      <p:sp>
        <p:nvSpPr>
          <p:cNvPr id="52" name="Text 48"/>
          <p:cNvSpPr txBox="1"/>
          <p:nvPr/>
        </p:nvSpPr>
        <p:spPr>
          <a:xfrm>
            <a:off x="9905695" y="3429000"/>
            <a:ext cx="51023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000" dirty="0"/>
          </a:p>
        </p:txBody>
      </p:sp>
      <p:sp>
        <p:nvSpPr>
          <p:cNvPr id="53" name="Text 49"/>
          <p:cNvSpPr txBox="1"/>
          <p:nvPr/>
        </p:nvSpPr>
        <p:spPr>
          <a:xfrm>
            <a:off x="10506456" y="3429000"/>
            <a:ext cx="4461358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쇄석 입도 설계 및 배합 기술</a:t>
            </a:r>
            <a:endParaRPr lang="en-US" sz="2400" dirty="0"/>
          </a:p>
        </p:txBody>
      </p:sp>
      <p:sp>
        <p:nvSpPr>
          <p:cNvPr id="54" name="Text 50"/>
          <p:cNvSpPr txBox="1"/>
          <p:nvPr/>
        </p:nvSpPr>
        <p:spPr>
          <a:xfrm>
            <a:off x="9905695" y="3943807"/>
            <a:ext cx="6858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막힘방지 + 저수 + 노반의 입도 비율을 수학적으로 검증</a:t>
            </a:r>
            <a:endParaRPr lang="en-US" sz="1300" dirty="0"/>
          </a:p>
        </p:txBody>
      </p:sp>
      <p:sp>
        <p:nvSpPr>
          <p:cNvPr id="55" name="Text 51"/>
          <p:cNvSpPr txBox="1"/>
          <p:nvPr/>
        </p:nvSpPr>
        <p:spPr>
          <a:xfrm>
            <a:off x="10096805" y="4647895"/>
            <a:ext cx="28291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막힘방지층 · 세척 5–45mm, 두께 50–75mm</a:t>
            </a:r>
            <a:endParaRPr lang="en-US" sz="1300" dirty="0"/>
          </a:p>
        </p:txBody>
      </p:sp>
      <p:sp>
        <p:nvSpPr>
          <p:cNvPr id="56" name="Text 52"/>
          <p:cNvSpPr txBox="1"/>
          <p:nvPr/>
        </p:nvSpPr>
        <p:spPr>
          <a:xfrm>
            <a:off x="10096805" y="5762549"/>
            <a:ext cx="3172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저수층 · 세척 25–75mm 개방형 입도 (공극률 0.32–0.45)</a:t>
            </a:r>
            <a:endParaRPr lang="en-US" sz="1300" dirty="0"/>
          </a:p>
        </p:txBody>
      </p:sp>
      <p:sp>
        <p:nvSpPr>
          <p:cNvPr id="57" name="Text 53"/>
          <p:cNvSpPr txBox="1"/>
          <p:nvPr/>
        </p:nvSpPr>
        <p:spPr>
          <a:xfrm>
            <a:off x="10096805" y="6858000"/>
            <a:ext cx="17583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지오텍스타일 (부직포)</a:t>
            </a:r>
            <a:endParaRPr lang="en-US" sz="1200" dirty="0"/>
          </a:p>
        </p:txBody>
      </p:sp>
      <p:sp>
        <p:nvSpPr>
          <p:cNvPr id="58" name="Text 54"/>
          <p:cNvSpPr txBox="1"/>
          <p:nvPr/>
        </p:nvSpPr>
        <p:spPr>
          <a:xfrm>
            <a:off x="10096805" y="7220102"/>
            <a:ext cx="17455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다짐 노반 (subgrade)</a:t>
            </a:r>
            <a:endParaRPr lang="en-US" sz="1200" dirty="0"/>
          </a:p>
        </p:txBody>
      </p:sp>
      <p:sp>
        <p:nvSpPr>
          <p:cNvPr id="59" name="Text 55"/>
          <p:cNvSpPr txBox="1"/>
          <p:nvPr/>
        </p:nvSpPr>
        <p:spPr>
          <a:xfrm>
            <a:off x="13811098" y="4524451"/>
            <a:ext cx="31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CRITERIA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13811098" y="4886554"/>
            <a:ext cx="3143707" cy="1152144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61" name="Shape 57"/>
          <p:cNvSpPr/>
          <p:nvPr/>
        </p:nvSpPr>
        <p:spPr>
          <a:xfrm>
            <a:off x="13811098" y="4886554"/>
            <a:ext cx="38405" cy="1152144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14002207" y="5038344"/>
            <a:ext cx="28008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안정성 (내부이동 방지)</a:t>
            </a:r>
            <a:endParaRPr lang="en-US" sz="1200" dirty="0"/>
          </a:p>
        </p:txBody>
      </p:sp>
      <p:sp>
        <p:nvSpPr>
          <p:cNvPr id="63" name="Text 59"/>
          <p:cNvSpPr txBox="1"/>
          <p:nvPr/>
        </p:nvSpPr>
        <p:spPr>
          <a:xfrm>
            <a:off x="14002207" y="5324551"/>
            <a:ext cx="28008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D₁₅(막힘방지) / D₈₅(저수) ≤ 5</a:t>
            </a:r>
            <a:endParaRPr lang="en-US" sz="1600" dirty="0"/>
          </a:p>
        </p:txBody>
      </p:sp>
      <p:sp>
        <p:nvSpPr>
          <p:cNvPr id="64" name="Shape 60"/>
          <p:cNvSpPr/>
          <p:nvPr/>
        </p:nvSpPr>
        <p:spPr>
          <a:xfrm>
            <a:off x="13811098" y="6172200"/>
            <a:ext cx="3143707" cy="1152144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65" name="Shape 61"/>
          <p:cNvSpPr/>
          <p:nvPr/>
        </p:nvSpPr>
        <p:spPr>
          <a:xfrm>
            <a:off x="13811098" y="6172200"/>
            <a:ext cx="38405" cy="1152144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14002207" y="6324905"/>
            <a:ext cx="28008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투수성 (병목 방지)</a:t>
            </a:r>
            <a:endParaRPr lang="en-US" sz="1200" dirty="0"/>
          </a:p>
        </p:txBody>
      </p:sp>
      <p:sp>
        <p:nvSpPr>
          <p:cNvPr id="67" name="Text 63"/>
          <p:cNvSpPr txBox="1"/>
          <p:nvPr/>
        </p:nvSpPr>
        <p:spPr>
          <a:xfrm>
            <a:off x="14002207" y="6610198"/>
            <a:ext cx="28008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D₁₅(막힘방지) / D₁₅(노반) ≥ 5</a:t>
            </a:r>
            <a:endParaRPr lang="en-US" sz="1600" dirty="0"/>
          </a:p>
        </p:txBody>
      </p:sp>
      <p:sp>
        <p:nvSpPr>
          <p:cNvPr id="68" name="Text 64"/>
          <p:cNvSpPr txBox="1"/>
          <p:nvPr/>
        </p:nvSpPr>
        <p:spPr>
          <a:xfrm>
            <a:off x="13811098" y="7457846"/>
            <a:ext cx="314370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입도가 작은 막힘방지 골재가 저수층 공극으로 침투하지 않도록, 그러나 물의 흐름은 막지 않도록 — 두 비율로 동시에 통제.</a:t>
            </a:r>
            <a:endParaRPr lang="en-US" sz="1200" dirty="0"/>
          </a:p>
        </p:txBody>
      </p:sp>
      <p:sp>
        <p:nvSpPr>
          <p:cNvPr id="69" name="Text 65"/>
          <p:cNvSpPr txBox="1"/>
          <p:nvPr/>
        </p:nvSpPr>
        <p:spPr>
          <a:xfrm>
            <a:off x="1143000" y="9620402"/>
            <a:ext cx="38715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기술 특징 · 핵심 기술 1/2 — 물성과 입도</a:t>
            </a:r>
            <a:endParaRPr lang="en-US" sz="1200" dirty="0"/>
          </a:p>
        </p:txBody>
      </p:sp>
      <p:sp>
        <p:nvSpPr>
          <p:cNvPr id="70" name="Text 66"/>
          <p:cNvSpPr txBox="1"/>
          <p:nvPr/>
        </p:nvSpPr>
        <p:spPr>
          <a:xfrm>
            <a:off x="16554298" y="9620402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/ 19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143707"/>
            <a:ext cx="7810805" cy="30476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34195" y="3143707"/>
            <a:ext cx="7810805" cy="30476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6476695"/>
            <a:ext cx="7810805" cy="30476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34195" y="6476695"/>
            <a:ext cx="7810805" cy="3047695"/>
          </a:xfrm>
          <a:prstGeom prst="rect">
            <a:avLst/>
          </a:prstGeom>
          <a:solidFill>
            <a:srgbClr val="0F1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4ec3afe62aeaf015e615f7c699b0520a.png">    </p:cNvPr>
          <p:cNvPicPr>
            <a:picLocks noChangeAspect="1"/>
          </p:cNvPicPr>
          <p:nvPr/>
        </p:nvPicPr>
        <p:blipFill>
          <a:blip r:embed="rId1"/>
          <a:srcRect l="-405" r="-405" t="0" b="0"/>
          <a:stretch/>
        </p:blipFill>
        <p:spPr>
          <a:xfrm>
            <a:off x="1143000" y="3143707"/>
            <a:ext cx="57607" cy="3047695"/>
          </a:xfrm>
          <a:prstGeom prst="rect">
            <a:avLst/>
          </a:prstGeom>
        </p:spPr>
      </p:pic>
      <p:pic>
        <p:nvPicPr>
          <p:cNvPr id="9" name="Image 1" descr="gen-dedup-64826201d76adb34a41cb2f7a275fa47.png">    </p:cNvPr>
          <p:cNvPicPr>
            <a:picLocks noChangeAspect="1"/>
          </p:cNvPicPr>
          <p:nvPr/>
        </p:nvPicPr>
        <p:blipFill>
          <a:blip r:embed="rId2"/>
          <a:srcRect l="-405" r="-405" t="0" b="0"/>
          <a:stretch/>
        </p:blipFill>
        <p:spPr>
          <a:xfrm>
            <a:off x="9334195" y="3143707"/>
            <a:ext cx="57607" cy="3047695"/>
          </a:xfrm>
          <a:prstGeom prst="rect">
            <a:avLst/>
          </a:prstGeom>
        </p:spPr>
      </p:pic>
      <p:pic>
        <p:nvPicPr>
          <p:cNvPr id="10" name="Image 2" descr="gen-dedup-465294c745a480d2a1f9775c911b67c9.png">    </p:cNvPr>
          <p:cNvPicPr>
            <a:picLocks noChangeAspect="1"/>
          </p:cNvPicPr>
          <p:nvPr/>
        </p:nvPicPr>
        <p:blipFill>
          <a:blip r:embed="rId3"/>
          <a:srcRect l="-405" r="-405" t="0" b="0"/>
          <a:stretch/>
        </p:blipFill>
        <p:spPr>
          <a:xfrm>
            <a:off x="1143000" y="6476695"/>
            <a:ext cx="57607" cy="3047695"/>
          </a:xfrm>
          <a:prstGeom prst="rect">
            <a:avLst/>
          </a:prstGeom>
        </p:spPr>
      </p:pic>
      <p:pic>
        <p:nvPicPr>
          <p:cNvPr id="11" name="Image 3" descr="gen-dedup-95cb9542231cbdc9337e67592a506b9d.png">    </p:cNvPr>
          <p:cNvPicPr>
            <a:picLocks noChangeAspect="1"/>
          </p:cNvPicPr>
          <p:nvPr/>
        </p:nvPicPr>
        <p:blipFill>
          <a:blip r:embed="rId4"/>
          <a:srcRect l="-405" r="-405" t="0" b="0"/>
          <a:stretch/>
        </p:blipFill>
        <p:spPr>
          <a:xfrm>
            <a:off x="9334195" y="6476695"/>
            <a:ext cx="57607" cy="3047695"/>
          </a:xfrm>
          <a:prstGeom prst="rect">
            <a:avLst/>
          </a:prstGeom>
        </p:spPr>
      </p:pic>
      <p:pic>
        <p:nvPicPr>
          <p:cNvPr id="12" name="Image 4" descr="gen-dedup-05ff1fffbcd655c1253390aa4e9e8e7a.png">    </p:cNvPr>
          <p:cNvPicPr>
            <a:picLocks noChangeAspect="1"/>
          </p:cNvPicPr>
          <p:nvPr/>
        </p:nvPicPr>
        <p:blipFill>
          <a:blip r:embed="rId5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기술 특징 — 핵심 기술 (2/2)</a:t>
            </a:r>
            <a:endParaRPr lang="en-US" sz="15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막힘 · 동결 · 데이터 부재를 </a:t>
            </a:r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시스템으로 풀어냅니다</a:t>
            </a:r>
            <a:endParaRPr lang="en-US" sz="4200" dirty="0"/>
          </a:p>
        </p:txBody>
      </p:sp>
      <p:sp>
        <p:nvSpPr>
          <p:cNvPr id="15" name="Text 8"/>
          <p:cNvSpPr txBox="1"/>
          <p:nvPr/>
        </p:nvSpPr>
        <p:spPr>
          <a:xfrm>
            <a:off x="1524305" y="3429000"/>
            <a:ext cx="3337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100" dirty="0"/>
          </a:p>
        </p:txBody>
      </p:sp>
      <p:sp>
        <p:nvSpPr>
          <p:cNvPr id="16" name="Text 9"/>
          <p:cNvSpPr txBox="1"/>
          <p:nvPr/>
        </p:nvSpPr>
        <p:spPr>
          <a:xfrm>
            <a:off x="1984248" y="3429000"/>
            <a:ext cx="2333549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다층 여과 시스템</a:t>
            </a:r>
            <a:endParaRPr lang="en-US" sz="2100" dirty="0"/>
          </a:p>
        </p:txBody>
      </p:sp>
      <p:sp>
        <p:nvSpPr>
          <p:cNvPr id="17" name="Text 10"/>
          <p:cNvSpPr txBox="1"/>
          <p:nvPr/>
        </p:nvSpPr>
        <p:spPr>
          <a:xfrm>
            <a:off x="6640373" y="3552444"/>
            <a:ext cx="241675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MULTI-LAYER FILTRATION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1524305" y="3981298"/>
            <a:ext cx="7239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막힘방지층과 부직포 지오텍스타일이 결합되어 입자 이동을 제어하고, 총부유고형물(TSS, ≥0.45 µm)을 포집하는 </a:t>
            </a:r>
            <a:pPr algn="l" indent="0" marL="0">
              <a:buNone/>
            </a:pPr>
            <a:r>
              <a:rPr lang="en-US" sz="14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‘생물 필터(bio-filter)’</a:t>
            </a:r>
            <a:pPr algn="l" indent="0" marL="0">
              <a:buNone/>
            </a:pPr>
            <a:r>
              <a:rPr lang="en-US" sz="14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기능을 동시에 수행합니다.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1524305" y="5274259"/>
            <a:ext cx="1047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TSS 제거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2851099" y="5274259"/>
            <a:ext cx="1047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총인 제거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4175150" y="5274259"/>
            <a:ext cx="1047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중금속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5501945" y="5274259"/>
            <a:ext cx="10479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탄화수소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524305" y="4807001"/>
            <a:ext cx="104790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85%↑</a:t>
            </a:r>
            <a:endParaRPr lang="en-US" sz="2500" dirty="0"/>
          </a:p>
        </p:txBody>
      </p:sp>
      <p:sp>
        <p:nvSpPr>
          <p:cNvPr id="24" name="Text 17"/>
          <p:cNvSpPr txBox="1"/>
          <p:nvPr/>
        </p:nvSpPr>
        <p:spPr>
          <a:xfrm>
            <a:off x="2851099" y="4807001"/>
            <a:ext cx="104790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70%↑</a:t>
            </a:r>
            <a:endParaRPr lang="en-US" sz="2500" dirty="0"/>
          </a:p>
        </p:txBody>
      </p:sp>
      <p:sp>
        <p:nvSpPr>
          <p:cNvPr id="25" name="Text 18"/>
          <p:cNvSpPr txBox="1"/>
          <p:nvPr/>
        </p:nvSpPr>
        <p:spPr>
          <a:xfrm>
            <a:off x="4175150" y="4807001"/>
            <a:ext cx="104790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60%↑</a:t>
            </a:r>
            <a:endParaRPr lang="en-US" sz="2500" dirty="0"/>
          </a:p>
        </p:txBody>
      </p:sp>
      <p:sp>
        <p:nvSpPr>
          <p:cNvPr id="26" name="Text 19"/>
          <p:cNvSpPr txBox="1"/>
          <p:nvPr/>
        </p:nvSpPr>
        <p:spPr>
          <a:xfrm>
            <a:off x="5501945" y="4807001"/>
            <a:ext cx="1047902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40%↑</a:t>
            </a:r>
            <a:endParaRPr lang="en-US" sz="2500" dirty="0"/>
          </a:p>
        </p:txBody>
      </p:sp>
      <p:sp>
        <p:nvSpPr>
          <p:cNvPr id="27" name="Text 20"/>
          <p:cNvSpPr txBox="1"/>
          <p:nvPr/>
        </p:nvSpPr>
        <p:spPr>
          <a:xfrm>
            <a:off x="9715500" y="3429000"/>
            <a:ext cx="3337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A6B7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100" dirty="0"/>
          </a:p>
        </p:txBody>
      </p:sp>
      <p:sp>
        <p:nvSpPr>
          <p:cNvPr id="28" name="Text 21"/>
          <p:cNvSpPr txBox="1"/>
          <p:nvPr/>
        </p:nvSpPr>
        <p:spPr>
          <a:xfrm>
            <a:off x="10175443" y="3429000"/>
            <a:ext cx="306781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동결-융해 방지 시스템</a:t>
            </a:r>
            <a:endParaRPr lang="en-US" sz="2100" dirty="0"/>
          </a:p>
        </p:txBody>
      </p:sp>
      <p:sp>
        <p:nvSpPr>
          <p:cNvPr id="29" name="Text 22"/>
          <p:cNvSpPr txBox="1"/>
          <p:nvPr/>
        </p:nvSpPr>
        <p:spPr>
          <a:xfrm>
            <a:off x="15259507" y="3552444"/>
            <a:ext cx="169621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FROST PROTECTION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715500" y="3981298"/>
            <a:ext cx="7239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노원구 동결깊이(300–400mm)를 고려한 </a:t>
            </a:r>
            <a:pPr algn="l" indent="0" marL="0">
              <a:buNone/>
            </a:pPr>
            <a:r>
              <a:rPr lang="en-US" sz="14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배수 우선 설계</a:t>
            </a:r>
            <a:pPr algn="l" indent="0" marL="0">
              <a:buNone/>
            </a:pPr>
            <a:r>
              <a:rPr lang="en-US" sz="14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강우 후 24~48시간 이내 배수, 바닥 경사 0.5%, 두께 최소 700mm 확보, 모세관 차단층(d10&gt;2mm) 100~150mm 도입.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9715500" y="5274259"/>
            <a:ext cx="1257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두께(포장 포함)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11259007" y="5274259"/>
            <a:ext cx="82936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바닥 경사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2371832" y="5274259"/>
            <a:ext cx="11914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배수 시간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9715500" y="4807001"/>
            <a:ext cx="125730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A6B7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700mm</a:t>
            </a:r>
            <a:endParaRPr lang="en-US" sz="2500" dirty="0"/>
          </a:p>
        </p:txBody>
      </p:sp>
      <p:sp>
        <p:nvSpPr>
          <p:cNvPr id="35" name="Text 28"/>
          <p:cNvSpPr txBox="1"/>
          <p:nvPr/>
        </p:nvSpPr>
        <p:spPr>
          <a:xfrm>
            <a:off x="11259007" y="4807001"/>
            <a:ext cx="829361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A6B7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0.5%</a:t>
            </a:r>
            <a:endParaRPr lang="en-US" sz="2500" dirty="0"/>
          </a:p>
        </p:txBody>
      </p:sp>
      <p:sp>
        <p:nvSpPr>
          <p:cNvPr id="36" name="Text 29"/>
          <p:cNvSpPr txBox="1"/>
          <p:nvPr/>
        </p:nvSpPr>
        <p:spPr>
          <a:xfrm>
            <a:off x="12371832" y="4807001"/>
            <a:ext cx="1252728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A6B7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24–48h</a:t>
            </a:r>
            <a:endParaRPr lang="en-US" sz="2500" dirty="0"/>
          </a:p>
        </p:txBody>
      </p:sp>
      <p:sp>
        <p:nvSpPr>
          <p:cNvPr id="37" name="Text 30"/>
          <p:cNvSpPr txBox="1"/>
          <p:nvPr/>
        </p:nvSpPr>
        <p:spPr>
          <a:xfrm>
            <a:off x="1524305" y="6762902"/>
            <a:ext cx="3337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2100" dirty="0"/>
          </a:p>
        </p:txBody>
      </p:sp>
      <p:sp>
        <p:nvSpPr>
          <p:cNvPr id="38" name="Text 31"/>
          <p:cNvSpPr txBox="1"/>
          <p:nvPr/>
        </p:nvSpPr>
        <p:spPr>
          <a:xfrm>
            <a:off x="1984248" y="6762902"/>
            <a:ext cx="204917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막힘 방지 방안</a:t>
            </a:r>
            <a:endParaRPr lang="en-US" sz="2100" dirty="0"/>
          </a:p>
        </p:txBody>
      </p:sp>
      <p:sp>
        <p:nvSpPr>
          <p:cNvPr id="39" name="Text 32"/>
          <p:cNvSpPr txBox="1"/>
          <p:nvPr/>
        </p:nvSpPr>
        <p:spPr>
          <a:xfrm>
            <a:off x="7168896" y="6886346"/>
            <a:ext cx="1600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CLOG PREVENTION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1524305" y="7315200"/>
            <a:ext cx="7239305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상부 지오텍스타일 300mm+ 겹침 · 1m 간격 앵커 고정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집수지/침투지 면적비 </a:t>
            </a:r>
            <a:pPr algn="l" indent="0" marL="0">
              <a:buNone/>
            </a:pPr>
            <a:r>
              <a:rPr lang="en-US" sz="14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포장 5:1, 식생 2:1 제한</a:t>
            </a:r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전처리 침전물 포집(600mm 집수조) + 유공관 4–8시 방향 설치</a:t>
            </a:r>
            <a:endParaRPr lang="en-US" sz="1400" dirty="0"/>
          </a:p>
        </p:txBody>
      </p:sp>
      <p:sp>
        <p:nvSpPr>
          <p:cNvPr id="41" name="Text 34"/>
          <p:cNvSpPr txBox="1"/>
          <p:nvPr/>
        </p:nvSpPr>
        <p:spPr>
          <a:xfrm>
            <a:off x="9715500" y="6762902"/>
            <a:ext cx="333756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2100" dirty="0"/>
          </a:p>
        </p:txBody>
      </p:sp>
      <p:sp>
        <p:nvSpPr>
          <p:cNvPr id="42" name="Text 35"/>
          <p:cNvSpPr txBox="1"/>
          <p:nvPr/>
        </p:nvSpPr>
        <p:spPr>
          <a:xfrm>
            <a:off x="10175443" y="6762902"/>
            <a:ext cx="316748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모니터링 시스템</a:t>
            </a:r>
            <a:endParaRPr lang="en-US" sz="2100" dirty="0"/>
          </a:p>
        </p:txBody>
      </p:sp>
      <p:sp>
        <p:nvSpPr>
          <p:cNvPr id="43" name="Text 36"/>
          <p:cNvSpPr txBox="1"/>
          <p:nvPr/>
        </p:nvSpPr>
        <p:spPr>
          <a:xfrm>
            <a:off x="15218359" y="6886346"/>
            <a:ext cx="17437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9E958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EMBEDDED SENSING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9715500" y="7315200"/>
            <a:ext cx="77916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내장 센서 + 실시간 막힘 감지</a:t>
            </a:r>
            <a:pPr algn="l" indent="0" marL="0">
              <a:buNone/>
            </a:pPr>
            <a:r>
              <a:rPr lang="en-US" sz="14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상태기반 유지관리 가능, 수명주기 비용 20~30% 절감.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9715500" y="7841894"/>
            <a:ext cx="1009498" cy="724205"/>
          </a:xfrm>
          <a:prstGeom prst="rect">
            <a:avLst/>
          </a:prstGeom>
          <a:solidFill>
            <a:srgbClr val="F5E6B8">
              <a:alpha val="12000"/>
            </a:srgbClr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9877349" y="7966253"/>
            <a:ext cx="6858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9877349" y="8194853"/>
            <a:ext cx="8421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수위 센서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10947197" y="7841894"/>
            <a:ext cx="1162202" cy="724205"/>
          </a:xfrm>
          <a:prstGeom prst="rect">
            <a:avLst/>
          </a:prstGeom>
          <a:solidFill>
            <a:srgbClr val="F5E6B8">
              <a:alpha val="12000"/>
            </a:srgbClr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11109046" y="7966253"/>
            <a:ext cx="8385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PRESSURE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11109046" y="8194853"/>
            <a:ext cx="102412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공극압 센서</a:t>
            </a:r>
            <a:endParaRPr lang="en-US" sz="1300" dirty="0"/>
          </a:p>
        </p:txBody>
      </p:sp>
      <p:sp>
        <p:nvSpPr>
          <p:cNvPr id="51" name="Shape 44"/>
          <p:cNvSpPr/>
          <p:nvPr/>
        </p:nvSpPr>
        <p:spPr>
          <a:xfrm>
            <a:off x="12336170" y="7841894"/>
            <a:ext cx="1295705" cy="724205"/>
          </a:xfrm>
          <a:prstGeom prst="rect">
            <a:avLst/>
          </a:prstGeom>
          <a:solidFill>
            <a:srgbClr val="F5E6B8">
              <a:alpha val="12000"/>
            </a:srgbClr>
          </a:solidFill>
          <a:ln w="12700">
            <a:solidFill>
              <a:srgbClr val="F5E6B8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12498019" y="7966253"/>
            <a:ext cx="9720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12498019" y="8194853"/>
            <a:ext cx="9720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침하판</a:t>
            </a:r>
            <a:endParaRPr lang="en-US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1143000" y="9715500"/>
            <a:ext cx="38715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기술 특징 · 핵심 기술 2/2 — 시스템 통합</a:t>
            </a:r>
            <a:endParaRPr lang="en-US" sz="1200" dirty="0"/>
          </a:p>
        </p:txBody>
      </p:sp>
      <p:sp>
        <p:nvSpPr>
          <p:cNvPr id="55" name="Text 48"/>
          <p:cNvSpPr txBox="1"/>
          <p:nvPr/>
        </p:nvSpPr>
        <p:spPr>
          <a:xfrm>
            <a:off x="16554298" y="9715500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19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143707"/>
            <a:ext cx="10287000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pic>
        <p:nvPicPr>
          <p:cNvPr id="5" name="Image 0" descr="gen-dedup-05ff1fffbcd655c1253390aa4e9e8e7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pic>
        <p:nvPicPr>
          <p:cNvPr id="6" name="Image 1" descr="gen-dedup-4051356c5386689f1a639fddf66e2133.jpg">    </p:cNvPr>
          <p:cNvPicPr>
            <a:picLocks noChangeAspect="1"/>
          </p:cNvPicPr>
          <p:nvPr/>
        </p:nvPicPr>
        <p:blipFill>
          <a:blip r:embed="rId2"/>
          <a:srcRect l="0" r="0" t="-255" b="-255"/>
          <a:stretch/>
        </p:blipFill>
        <p:spPr>
          <a:xfrm>
            <a:off x="1333195" y="3429000"/>
            <a:ext cx="9905695" cy="5715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기술 특징 — 시스템 단면도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 장으로 보는 </a:t>
            </a:r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단면 구성</a:t>
            </a:r>
            <a:endParaRPr lang="en-US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2175358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표층의 빗물이 어떻게 저류·정화·배수되는지, 층별 역할을 단면으로 정리합니다.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33195" y="9144000"/>
            <a:ext cx="9906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spc="6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[그림] 개방형 입도 쇄석 하부기층 저수시스템 단면 구성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11811305" y="3143707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7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LEGEND · 층 구성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1811305" y="3600907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1811305" y="3600907"/>
            <a:ext cx="57607" cy="952805"/>
          </a:xfrm>
          <a:prstGeom prst="rect">
            <a:avLst/>
          </a:prstGeom>
          <a:solidFill>
            <a:srgbClr val="8AA0AA"/>
          </a:solidFill>
          <a:ln w="12700">
            <a:solidFill>
              <a:srgbClr val="8AA0AA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2039905" y="3781044"/>
            <a:ext cx="147492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투수성 표면층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6393363" y="3877056"/>
            <a:ext cx="571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SURFACE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2039905" y="4143146"/>
            <a:ext cx="49249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투수아스콘 · 투수블록 — 빗물 즉시 침투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1811305" y="4686300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811305" y="4686300"/>
            <a:ext cx="57607" cy="952805"/>
          </a:xfrm>
          <a:prstGeom prst="rect">
            <a:avLst/>
          </a:prstGeom>
          <a:solidFill>
            <a:srgbClr val="D9CFB6"/>
          </a:solidFill>
          <a:ln w="12700">
            <a:solidFill>
              <a:srgbClr val="D9CFB6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2039905" y="4867351"/>
            <a:ext cx="174833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베딩층 · 전이층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16386962" y="4962449"/>
            <a:ext cx="5815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BEDDING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2039905" y="5229454"/>
            <a:ext cx="49249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평평한 바닥면 + 모래 이동 차단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11811305" y="5772607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811305" y="5772607"/>
            <a:ext cx="57607" cy="952805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2039905" y="5952744"/>
            <a:ext cx="263713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입도 기층 저류층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16536010" y="6048756"/>
            <a:ext cx="4288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UPPER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2039905" y="6314846"/>
            <a:ext cx="49249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상부 하중 분산 + 부분 저류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11811305" y="6858000"/>
            <a:ext cx="5333695" cy="952805"/>
          </a:xfrm>
          <a:prstGeom prst="rect">
            <a:avLst/>
          </a:prstGeom>
          <a:solidFill>
            <a:srgbClr val="ECE5D8"/>
          </a:solidFill>
          <a:ln w="12700">
            <a:solidFill>
              <a:srgbClr val="8B6B3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1811305" y="6858000"/>
            <a:ext cx="57607" cy="952805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12039905" y="7039051"/>
            <a:ext cx="333481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보조기층 / 쇄석 저류층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6606418" y="7134149"/>
            <a:ext cx="3621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12039905" y="7401154"/>
            <a:ext cx="49249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25–75mm ·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저수층 (공극률 30~40%)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11811305" y="7944307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811305" y="7944307"/>
            <a:ext cx="57607" cy="952805"/>
          </a:xfrm>
          <a:prstGeom prst="rect">
            <a:avLst/>
          </a:prstGeom>
          <a:solidFill>
            <a:srgbClr val="9E8866"/>
          </a:solidFill>
          <a:ln w="12700">
            <a:solidFill>
              <a:srgbClr val="9E8866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2039905" y="8124444"/>
            <a:ext cx="24195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지오텍스타일 + 배수관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6554298" y="8220456"/>
            <a:ext cx="543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FILTER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2039905" y="8486546"/>
            <a:ext cx="49249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 필터 + 천공 배수 (4–8시 방향)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11811305" y="9029700"/>
            <a:ext cx="5333695" cy="9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811305" y="9029700"/>
            <a:ext cx="57607" cy="952805"/>
          </a:xfrm>
          <a:prstGeom prst="rect">
            <a:avLst/>
          </a:prstGeom>
          <a:solidFill>
            <a:srgbClr val="6B4F3D"/>
          </a:solidFill>
          <a:ln w="12700">
            <a:solidFill>
              <a:srgbClr val="6B4F3D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2039905" y="9210751"/>
            <a:ext cx="152613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노상 + 관측정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16273577" y="9305849"/>
            <a:ext cx="6958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SUBGRADE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2039905" y="9572854"/>
            <a:ext cx="49249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점검 스탠드파이프 — 상시 모니터링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1143000" y="9715500"/>
            <a:ext cx="24505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기술 특징 · 시스템 단면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16554298" y="9715500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333902"/>
            <a:ext cx="7429500" cy="6191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53805" y="4524451"/>
            <a:ext cx="819119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53805" y="6286500"/>
            <a:ext cx="8191195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53805" y="8048549"/>
            <a:ext cx="8191195" cy="1619402"/>
          </a:xfrm>
          <a:prstGeom prst="rect">
            <a:avLst/>
          </a:prstGeom>
          <a:solidFill>
            <a:srgbClr val="0F1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333902"/>
            <a:ext cx="7429500" cy="857707"/>
          </a:xfrm>
          <a:prstGeom prst="rect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305" y="4476902"/>
            <a:ext cx="6667805" cy="1904695"/>
          </a:xfrm>
          <a:prstGeom prst="rect">
            <a:avLst/>
          </a:prstGeom>
          <a:solidFill>
            <a:srgbClr val="ECE5D8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4305" y="6667805"/>
            <a:ext cx="6667805" cy="1143000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11" name="Shape 9"/>
          <p:cNvSpPr/>
          <p:nvPr/>
        </p:nvSpPr>
        <p:spPr>
          <a:xfrm>
            <a:off x="1524305" y="6667805"/>
            <a:ext cx="38405" cy="1143000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pic>
        <p:nvPicPr>
          <p:cNvPr id="12" name="Image 0" descr="gen-dedup-05ff1fffbcd655c1253390aa4e9e8e7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04695" y="5143500"/>
            <a:ext cx="228600" cy="228600"/>
          </a:xfrm>
          <a:prstGeom prst="ellipse">
            <a:avLst/>
          </a:prstGeom>
          <a:solidFill>
            <a:srgbClr val="8B7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81098" y="5029200"/>
            <a:ext cx="362102" cy="362102"/>
          </a:xfrm>
          <a:prstGeom prst="ellipse">
            <a:avLst/>
          </a:prstGeom>
          <a:solidFill>
            <a:srgbClr val="7A6A4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47695" y="4953305"/>
            <a:ext cx="514807" cy="514807"/>
          </a:xfrm>
          <a:prstGeom prst="ellipse">
            <a:avLst/>
          </a:prstGeom>
          <a:solidFill>
            <a:srgbClr val="9584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05402" y="4858207"/>
            <a:ext cx="685800" cy="685800"/>
          </a:xfrm>
          <a:prstGeom prst="ellipse">
            <a:avLst/>
          </a:prstGeom>
          <a:solidFill>
            <a:srgbClr val="6E5E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53305" y="4762195"/>
            <a:ext cx="875995" cy="875995"/>
          </a:xfrm>
          <a:prstGeom prst="ellipse">
            <a:avLst/>
          </a:prstGeom>
          <a:solidFill>
            <a:srgbClr val="8B7B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1402" y="4705502"/>
            <a:ext cx="1028700" cy="1028700"/>
          </a:xfrm>
          <a:prstGeom prst="ellipse">
            <a:avLst/>
          </a:prstGeom>
          <a:solidFill>
            <a:srgbClr val="5E4F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차별화 — 보유기술 ① / ②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1410005"/>
            <a:ext cx="16840505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개량형 골재 선별·배합 장치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— 10년의 정밀 입도 노하우</a:t>
            </a:r>
            <a:endParaRPr lang="en-US" sz="42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2175358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45mm 기초보강재용으로 검증된 장비를 </a:t>
            </a:r>
            <a:pPr algn="l" indent="0" marL="0">
              <a:buNone/>
            </a:pPr>
            <a:r>
              <a:rPr lang="en-US" sz="16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75mm 저수용 골재</a:t>
            </a:r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확장 적용합니다.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524305" y="3705149"/>
            <a:ext cx="302026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63" kern="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TECH 01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524305" y="3933749"/>
            <a:ext cx="3753612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개량형 골재 선별 및 배합장치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6455664" y="3543300"/>
            <a:ext cx="192664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2,000</a:t>
            </a:r>
            <a:pPr algn="r" indent="0" marL="0">
              <a:buNone/>
            </a:pPr>
            <a:r>
              <a:rPr lang="en-US" sz="13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건+</a:t>
            </a:r>
            <a:endParaRPr lang="en-US" sz="2700" dirty="0"/>
          </a:p>
        </p:txBody>
      </p:sp>
      <p:sp>
        <p:nvSpPr>
          <p:cNvPr id="25" name="Text 22"/>
          <p:cNvSpPr txBox="1"/>
          <p:nvPr/>
        </p:nvSpPr>
        <p:spPr>
          <a:xfrm>
            <a:off x="7153351" y="3905402"/>
            <a:ext cx="12289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spc="98" kern="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기초보강재 실적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714500" y="4572000"/>
            <a:ext cx="6286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8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 GRADATION · 입도 정밀 제어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790395" y="5905195"/>
            <a:ext cx="33375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mm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3107131" y="5905195"/>
            <a:ext cx="768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4159606" y="5905195"/>
            <a:ext cx="1700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280660" y="5905195"/>
            <a:ext cx="1700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6401714" y="5905195"/>
            <a:ext cx="17007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523683" y="5905195"/>
            <a:ext cx="409651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 mm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580083" y="6848856"/>
            <a:ext cx="130850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466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45</a:t>
            </a:r>
            <a:pPr algn="ctr" indent="0" marL="0">
              <a:buNone/>
            </a:pPr>
            <a:r>
              <a:rPr lang="en-US" sz="1300" b="1" dirty="0">
                <a:solidFill>
                  <a:srgbClr val="5466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mm</a:t>
            </a:r>
            <a:endParaRPr lang="en-US" sz="3100" dirty="0"/>
          </a:p>
        </p:txBody>
      </p:sp>
      <p:sp>
        <p:nvSpPr>
          <p:cNvPr id="34" name="Text 31"/>
          <p:cNvSpPr txBox="1"/>
          <p:nvPr/>
        </p:nvSpPr>
        <p:spPr>
          <a:xfrm>
            <a:off x="1762049" y="7286854"/>
            <a:ext cx="943661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9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적용 한계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2880360" y="6877202"/>
            <a:ext cx="381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→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3218688" y="6819595"/>
            <a:ext cx="14941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75</a:t>
            </a:r>
            <a:pPr algn="ctr" indent="0" marL="0">
              <a:buNone/>
            </a:pPr>
            <a:r>
              <a:rPr lang="en-US" sz="15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mm</a:t>
            </a:r>
            <a:endParaRPr lang="en-US" sz="3600" dirty="0"/>
          </a:p>
        </p:txBody>
      </p:sp>
      <p:sp>
        <p:nvSpPr>
          <p:cNvPr id="37" name="Text 34"/>
          <p:cNvSpPr txBox="1"/>
          <p:nvPr/>
        </p:nvSpPr>
        <p:spPr>
          <a:xfrm>
            <a:off x="3489350" y="7315200"/>
            <a:ext cx="952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과제 확장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67098" y="6920179"/>
            <a:ext cx="9144" cy="457200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809744" y="6920179"/>
            <a:ext cx="3106217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골재 입도에서도 동일한 정밀도 —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공극률·투수성·맞물림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동시 최적화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1524305" y="8096098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158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VERIFIED PERFORMANCE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524305" y="8419795"/>
            <a:ext cx="21241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45°+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1524305" y="8744407"/>
            <a:ext cx="21241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쇄석 내부마찰각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(자체 변형 극소)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3797503" y="8419795"/>
            <a:ext cx="21241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300–500</a:t>
            </a:r>
            <a:pPr algn="l" indent="0" marL="0">
              <a:buNone/>
            </a:pPr>
            <a:r>
              <a:rPr lang="en-US" sz="10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mm</a:t>
            </a:r>
            <a:endParaRPr lang="en-US" sz="2200" dirty="0"/>
          </a:p>
        </p:txBody>
      </p:sp>
      <p:sp>
        <p:nvSpPr>
          <p:cNvPr id="44" name="Text 41"/>
          <p:cNvSpPr txBox="1"/>
          <p:nvPr/>
        </p:nvSpPr>
        <p:spPr>
          <a:xfrm>
            <a:off x="3797503" y="8744407"/>
            <a:ext cx="21241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두께 적용 시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100kN/m² 지지력 확보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070702" y="8419795"/>
            <a:ext cx="2124151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</a:t>
            </a:r>
            <a:pPr algn="l" indent="0" marL="0">
              <a:buNone/>
            </a:pPr>
            <a:r>
              <a:rPr lang="en-US" sz="10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년+</a:t>
            </a:r>
            <a:endParaRPr lang="en-US" sz="2200" dirty="0"/>
          </a:p>
        </p:txBody>
      </p:sp>
      <p:sp>
        <p:nvSpPr>
          <p:cNvPr id="46" name="Text 43"/>
          <p:cNvSpPr txBox="1"/>
          <p:nvPr/>
        </p:nvSpPr>
        <p:spPr>
          <a:xfrm>
            <a:off x="6070702" y="8744407"/>
            <a:ext cx="21241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대한토목학회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물성·계산 검증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8953805" y="3429000"/>
            <a:ext cx="8192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7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IT MATTERS FOR THIS PROJECT · 본 과제 적용 이유</a:t>
            </a:r>
            <a:endParaRPr lang="en-US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8953805" y="3791102"/>
            <a:ext cx="8192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 입도가 곧 </a:t>
            </a:r>
            <a:pPr algn="l" indent="0" marL="0">
              <a:buNone/>
            </a:pPr>
            <a:r>
              <a:rPr lang="en-US" sz="24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 성능</a:t>
            </a:r>
            <a:pPr algn="l" indent="0" marL="0">
              <a:buNone/>
            </a:pPr>
            <a:r>
              <a:rPr lang="en-US" sz="24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49" name="Text 46"/>
          <p:cNvSpPr txBox="1"/>
          <p:nvPr/>
        </p:nvSpPr>
        <p:spPr>
          <a:xfrm>
            <a:off x="9239098" y="4743907"/>
            <a:ext cx="40965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①</a:t>
            </a:r>
            <a:endParaRPr lang="en-US" sz="3100" dirty="0"/>
          </a:p>
        </p:txBody>
      </p:sp>
      <p:sp>
        <p:nvSpPr>
          <p:cNvPr id="50" name="Text 47"/>
          <p:cNvSpPr txBox="1"/>
          <p:nvPr/>
        </p:nvSpPr>
        <p:spPr>
          <a:xfrm>
            <a:off x="9810598" y="4867351"/>
            <a:ext cx="315285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막힘방지층 5–45mm 정밀 입도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9239098" y="5286146"/>
            <a:ext cx="7620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D₁₅(막힘방지)/D₈₅(저수) ≤ 5 + D₁₅/D₁₅(노반) ≥ 5 — 수학적 안정성·투수성 동시 만족.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장비 없이 채로 거른 골재로는 달성 불가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정밀도.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9239098" y="6505956"/>
            <a:ext cx="40965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②</a:t>
            </a:r>
            <a:endParaRPr lang="en-US" sz="3100" dirty="0"/>
          </a:p>
        </p:txBody>
      </p:sp>
      <p:sp>
        <p:nvSpPr>
          <p:cNvPr id="53" name="Text 50"/>
          <p:cNvSpPr txBox="1"/>
          <p:nvPr/>
        </p:nvSpPr>
        <p:spPr>
          <a:xfrm>
            <a:off x="9810598" y="6629400"/>
            <a:ext cx="338876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저수층 25–75mm 각형 90% 보장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9239098" y="7048195"/>
            <a:ext cx="7620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파쇄율 90% 이상 각진 골재 + 미립자 ≤ 2% 동시 제어.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맞물림 안정성 + 공극률 32%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한 번의 배합으로 확보.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9239098" y="8268005"/>
            <a:ext cx="409651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③</a:t>
            </a:r>
            <a:endParaRPr lang="en-US" sz="3100" dirty="0"/>
          </a:p>
        </p:txBody>
      </p:sp>
      <p:sp>
        <p:nvSpPr>
          <p:cNvPr id="56" name="Text 53"/>
          <p:cNvSpPr txBox="1"/>
          <p:nvPr/>
        </p:nvSpPr>
        <p:spPr>
          <a:xfrm>
            <a:off x="9810598" y="8391449"/>
            <a:ext cx="372526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 기준 시 정량 절차의 핵심 장비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9239098" y="8810244"/>
            <a:ext cx="76206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입도 곡선·세척·각형률 재현성을 보장하는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국산 검증 장비</a:t>
            </a:r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KS F xxxx 제정 시 표준 배합 절차의 근간이 됩니다.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810598"/>
            <a:ext cx="430865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차별화 · 핵심 보유기술 ① 골재 선별·배합 장치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16554298" y="9810598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238805"/>
            <a:ext cx="10287000" cy="552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16207" y="3238805"/>
            <a:ext cx="5429707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16207" y="6762902"/>
            <a:ext cx="5429707" cy="2000707"/>
          </a:xfrm>
          <a:prstGeom prst="rect">
            <a:avLst/>
          </a:prstGeom>
          <a:solidFill>
            <a:srgbClr val="8B6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gen-dedup-7cfdfeb2434bf6e2645dd565fcd365f1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pic>
        <p:nvPicPr>
          <p:cNvPr id="8" name="Image 1" descr="gen-dedup-25b828930be5c29c91bfdd67aca62e42.jpg">    </p:cNvPr>
          <p:cNvPicPr>
            <a:picLocks noChangeAspect="1"/>
          </p:cNvPicPr>
          <p:nvPr/>
        </p:nvPicPr>
        <p:blipFill>
          <a:blip r:embed="rId2"/>
          <a:srcRect l="-4720" r="-4720" t="0" b="0"/>
          <a:stretch/>
        </p:blipFill>
        <p:spPr>
          <a:xfrm>
            <a:off x="1524305" y="3810305"/>
            <a:ext cx="9525305" cy="4572000"/>
          </a:xfrm>
          <a:prstGeom prst="rect">
            <a:avLst/>
          </a:prstGeom>
        </p:spPr>
      </p:pic>
      <p:pic>
        <p:nvPicPr>
          <p:cNvPr id="9" name="Image 2" descr="gen-dedup-d8f81783d38c3ccfa36af4d3519f9bcd.jpg">    </p:cNvPr>
          <p:cNvPicPr>
            <a:picLocks noChangeAspect="1"/>
          </p:cNvPicPr>
          <p:nvPr/>
        </p:nvPicPr>
        <p:blipFill>
          <a:blip r:embed="rId3"/>
          <a:srcRect l="0" r="0" t="-6920" b="-6920"/>
          <a:stretch/>
        </p:blipFill>
        <p:spPr>
          <a:xfrm>
            <a:off x="11906402" y="3429000"/>
            <a:ext cx="5048402" cy="28575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차별화 — 보유기술 ② / ②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하이셀(HiCell) 기초 공법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— 응력집중을 응력분산으로</a:t>
            </a:r>
            <a:endParaRPr lang="en-US" sz="42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2175358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벌집 셀이 자갈을 3차원으로 구속하여 </a:t>
            </a:r>
            <a:pPr algn="l" indent="0" marL="0">
              <a:buNone/>
            </a:pPr>
            <a:r>
              <a:rPr lang="en-US" sz="1600" b="1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반강성 매트</a:t>
            </a:r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형성, 연약지반의 지지력을 끌어올립니다.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3448202"/>
            <a:ext cx="41733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STRESS DISTRIBUTION · 응력 전달 비교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9702698" y="3486607"/>
            <a:ext cx="166603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98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원지반 vs. 하이셀 적용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1524305" y="8477402"/>
            <a:ext cx="9525305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401214" y="8563356"/>
            <a:ext cx="342351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왼쪽 — 원지반:</a:t>
            </a:r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응력집중 벌브 → 파괴위험·과다침하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7082028" y="8563356"/>
            <a:ext cx="364754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— 하이셀:</a:t>
            </a:r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응력분산 벌브 → 지지력 ↑ · 침하 ↓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2001500" y="6972300"/>
            <a:ext cx="48582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63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TECH 02 · KEY BENEFITS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2001500" y="7295998"/>
            <a:ext cx="23527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F0E2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자갈 이탈 방지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2001500" y="7505395"/>
            <a:ext cx="235275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대·소 입자 맞물림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4506956" y="7295998"/>
            <a:ext cx="23527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F0E2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침하량 최소화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4506956" y="7505395"/>
            <a:ext cx="235275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밀도 극대화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2001500" y="7839151"/>
            <a:ext cx="23527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F0E2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측방 유동 억제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2001500" y="8048549"/>
            <a:ext cx="235275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연약지반에서도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4506956" y="7839151"/>
            <a:ext cx="235275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F0E2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수직 하중 분산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4506956" y="8048549"/>
            <a:ext cx="235275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광범위 응력 전달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11716207" y="8906256"/>
            <a:ext cx="20263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20–50</a:t>
            </a:r>
            <a:pPr algn="l" indent="0" marL="0">
              <a:buNone/>
            </a:pPr>
            <a:r>
              <a:rPr lang="en-US" sz="16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3400" dirty="0"/>
          </a:p>
        </p:txBody>
      </p:sp>
      <p:sp>
        <p:nvSpPr>
          <p:cNvPr id="28" name="Text 23"/>
          <p:cNvSpPr txBox="1"/>
          <p:nvPr/>
        </p:nvSpPr>
        <p:spPr>
          <a:xfrm>
            <a:off x="11716207" y="9381744"/>
            <a:ext cx="176387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지지력 향상 · 응력 감소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13453567" y="8906256"/>
            <a:ext cx="9144" cy="666598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3652906" y="8906256"/>
            <a:ext cx="3051353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반강성</a:t>
            </a:r>
            <a:pPr algn="l" indent="0" marL="0">
              <a:buNone/>
            </a:pPr>
            <a:r>
              <a:rPr lang="en-US" sz="13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매트</a:t>
            </a:r>
            <a:endParaRPr lang="en-US" sz="3400" dirty="0"/>
          </a:p>
        </p:txBody>
      </p:sp>
      <p:sp>
        <p:nvSpPr>
          <p:cNvPr id="31" name="Text 26"/>
          <p:cNvSpPr txBox="1"/>
          <p:nvPr/>
        </p:nvSpPr>
        <p:spPr>
          <a:xfrm>
            <a:off x="13652906" y="9381744"/>
            <a:ext cx="16578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52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3차원 구속 효과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1143000" y="9810598"/>
            <a:ext cx="436443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차별화 · 핵심 보유기술 ② 하이셀(HiCell) 공법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16554298" y="9810598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19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143707"/>
            <a:ext cx="10477195" cy="3619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6953098"/>
            <a:ext cx="10477195" cy="2476195"/>
          </a:xfrm>
          <a:prstGeom prst="rect">
            <a:avLst/>
          </a:prstGeom>
          <a:solidFill>
            <a:srgbClr val="ECE5D8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0" y="3143707"/>
            <a:ext cx="5143500" cy="3143707"/>
          </a:xfrm>
          <a:prstGeom prst="rect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01500" y="6476695"/>
            <a:ext cx="5143500" cy="295259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pic>
        <p:nvPicPr>
          <p:cNvPr id="8" name="Image 0" descr="gen-dedup-05ff1fffbcd655c1253390aa4e9e8e7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차별화 — 종합 비교 · TRL · 제도화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2개 보유기술 + 통합 시스템으로 </a:t>
            </a:r>
            <a:pPr algn="l" indent="0" marL="0">
              <a:buNone/>
            </a:pPr>
            <a:r>
              <a:rPr lang="en-US" sz="40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TRL 6 → 7–8</a:t>
            </a:r>
            <a:pPr algn="l" indent="0" marL="0">
              <a:buNone/>
            </a:pPr>
            <a:r>
              <a:rPr lang="en-US" sz="40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진입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3372307"/>
            <a:ext cx="9715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83" kern="0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기술 vs. 본 기술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3866998"/>
            <a:ext cx="1905610" cy="514807"/>
          </a:xfrm>
          <a:prstGeom prst="rect">
            <a:avLst/>
          </a:prstGeom>
          <a:solidFill>
            <a:srgbClr val="0F1F2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b="1" spc="68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3866998"/>
            <a:ext cx="3905402" cy="514807"/>
          </a:xfrm>
          <a:prstGeom prst="rect">
            <a:avLst/>
          </a:prstGeom>
          <a:solidFill>
            <a:srgbClr val="2A3B4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(조밀 입도)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34402" y="3866998"/>
            <a:ext cx="3905402" cy="514807"/>
          </a:xfrm>
          <a:prstGeom prst="rect">
            <a:avLst/>
          </a:prstGeom>
          <a:solidFill>
            <a:srgbClr val="1E5F5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기술 (개방형 입도)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4381805"/>
            <a:ext cx="1905610" cy="523951"/>
          </a:xfrm>
          <a:prstGeom prst="rect">
            <a:avLst/>
          </a:prstGeom>
          <a:solidFill>
            <a:srgbClr val="ECE5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29000" y="4381805"/>
            <a:ext cx="3905402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3429000" y="4896612"/>
            <a:ext cx="3905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29000" y="4381805"/>
            <a:ext cx="390540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지지(하중 전달) 단일 기능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34402" y="4381805"/>
            <a:ext cx="3905402" cy="523951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20" name="Shape 17"/>
          <p:cNvSpPr/>
          <p:nvPr/>
        </p:nvSpPr>
        <p:spPr>
          <a:xfrm>
            <a:off x="7334402" y="4896612"/>
            <a:ext cx="3905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34402" y="4381805"/>
            <a:ext cx="390540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+ 저류 + 정화 통합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524305" y="4905756"/>
            <a:ext cx="1905610" cy="523951"/>
          </a:xfrm>
          <a:prstGeom prst="rect">
            <a:avLst/>
          </a:prstGeom>
          <a:solidFill>
            <a:srgbClr val="ECE5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공극률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429000" y="4905756"/>
            <a:ext cx="3905402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3429000" y="5420563"/>
            <a:ext cx="3905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29000" y="4905756"/>
            <a:ext cx="390540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5~10%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334402" y="4905756"/>
            <a:ext cx="3905402" cy="523951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27" name="Shape 24"/>
          <p:cNvSpPr/>
          <p:nvPr/>
        </p:nvSpPr>
        <p:spPr>
          <a:xfrm>
            <a:off x="7334402" y="5420563"/>
            <a:ext cx="3905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34402" y="4905756"/>
            <a:ext cx="390540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30~40% (3~6배)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524305" y="5429707"/>
            <a:ext cx="1905610" cy="523951"/>
          </a:xfrm>
          <a:prstGeom prst="rect">
            <a:avLst/>
          </a:prstGeom>
          <a:solidFill>
            <a:srgbClr val="ECE5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지지력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429000" y="5429707"/>
            <a:ext cx="3905402" cy="5239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3429000" y="5944514"/>
            <a:ext cx="3905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29000" y="5429707"/>
            <a:ext cx="390540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수준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334402" y="5429707"/>
            <a:ext cx="3905402" cy="523951"/>
          </a:xfrm>
          <a:prstGeom prst="rect">
            <a:avLst/>
          </a:prstGeom>
          <a:solidFill>
            <a:srgbClr val="E8F0EE"/>
          </a:solidFill>
          <a:ln/>
        </p:spPr>
      </p:sp>
      <p:sp>
        <p:nvSpPr>
          <p:cNvPr id="34" name="Shape 31"/>
          <p:cNvSpPr/>
          <p:nvPr/>
        </p:nvSpPr>
        <p:spPr>
          <a:xfrm>
            <a:off x="7334402" y="5944514"/>
            <a:ext cx="3905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34402" y="5429707"/>
            <a:ext cx="390540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20~50% 향상</a:t>
            </a:r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(응력 감소)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1524305" y="5952744"/>
            <a:ext cx="1905610" cy="514807"/>
          </a:xfrm>
          <a:prstGeom prst="rect">
            <a:avLst/>
          </a:prstGeom>
          <a:solidFill>
            <a:srgbClr val="ECE5D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유지관리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3429000" y="5952744"/>
            <a:ext cx="3905402" cy="514807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정기점검 (비용 부담)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334402" y="5952744"/>
            <a:ext cx="3905402" cy="514807"/>
          </a:xfrm>
          <a:prstGeom prst="rect">
            <a:avLst/>
          </a:prstGeom>
          <a:solidFill>
            <a:srgbClr val="E8F0E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139700" rIns="152400" bIns="1397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상태기반 (수명주기 20~30% 절감)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1524305" y="7181698"/>
            <a:ext cx="9715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70" kern="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· 안정성 검증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1524305" y="7505395"/>
            <a:ext cx="1040312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대한토목학회 연구로 기본 물성·계산 방법 검증, 10여 년간 </a:t>
            </a:r>
            <a:pPr algn="l" indent="0" marL="0">
              <a:buNone/>
            </a:pPr>
            <a:r>
              <a:rPr lang="en-US" sz="1600" b="1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2,000건 이상의 건축물 기초보강재</a:t>
            </a:r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실적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1524305" y="7980883"/>
            <a:ext cx="44677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내부마찰각 </a:t>
            </a:r>
            <a:pPr algn="l" indent="0" marL="0">
              <a:buNone/>
            </a:pPr>
            <a:r>
              <a:rPr lang="en-US" sz="13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45° 이상</a:t>
            </a:r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자체 변형 극소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두께 </a:t>
            </a:r>
            <a:pPr algn="l" indent="0" marL="0">
              <a:buNone/>
            </a:pPr>
            <a:r>
              <a:rPr lang="en-US" sz="13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300~500mm</a:t>
            </a:r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100kN/m² 미만 상재하중 지지력 확보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366967" y="7980883"/>
            <a:ext cx="34674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점토 등 연약지반에서 </a:t>
            </a:r>
            <a:pPr algn="l" indent="0" marL="0">
              <a:buNone/>
            </a:pPr>
            <a:r>
              <a:rPr lang="en-US" sz="13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침하 감소</a:t>
            </a:r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효과 입증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투수포장면 처짐·물고임·파손 예방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2287707" y="34290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60" kern="0" dirty="0">
                <a:solidFill>
                  <a:srgbClr val="C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TECHNOLOGY READINESS LEVEL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12287707" y="3791102"/>
            <a:ext cx="5162702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0" b="1" spc="-675" kern="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</a:t>
            </a:r>
            <a:pPr algn="l" indent="0" marL="0">
              <a:buNone/>
            </a:pPr>
            <a:r>
              <a:rPr lang="en-US" sz="4500" b="1" spc="-675" kern="0" dirty="0">
                <a:solidFill>
                  <a:srgbClr val="C9D9D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/ 9</a:t>
            </a:r>
            <a:endParaRPr lang="en-US" sz="13500" dirty="0"/>
          </a:p>
        </p:txBody>
      </p:sp>
      <p:sp>
        <p:nvSpPr>
          <p:cNvPr id="45" name="Text 42"/>
          <p:cNvSpPr txBox="1"/>
          <p:nvPr/>
        </p:nvSpPr>
        <p:spPr>
          <a:xfrm>
            <a:off x="12287707" y="5581498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환경 시제품 시연 단계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12287707" y="6019495"/>
            <a:ext cx="45720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물성·구성요소는 검증 완료. 본 과제로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실증 + 표준화</a:t>
            </a:r>
            <a:pPr algn="l" indent="0" marL="0">
              <a:buNone/>
            </a:pPr>
            <a:r>
              <a:rPr lang="en-US" sz="1300" dirty="0">
                <a:solidFill>
                  <a:srgbClr val="C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TRL 7~8 진입.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2287707" y="67629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법·제도 제안 (KS 신설)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2287707" y="7086600"/>
            <a:ext cx="45720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 F xxxx · 복합 기능형 지하 저수층 설계·시공·유지관리 기준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12287707" y="7860182"/>
            <a:ext cx="457200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하수도설계기준(KDS 61 10 00)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분산형 저수층 반영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도로·포장 설계기준에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저수·배수 기능 추가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LID 가이드라인에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지하 저수층형 정량 절차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신설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1143000" y="9715500"/>
            <a:ext cx="25054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차별성 · 종합 비교 · TRL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16554298" y="9715500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19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143707"/>
            <a:ext cx="8001000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34195" y="3143707"/>
            <a:ext cx="7810805" cy="32388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6572707"/>
            <a:ext cx="80010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34195" y="6572707"/>
            <a:ext cx="7810805" cy="2857500"/>
          </a:xfrm>
          <a:prstGeom prst="rect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05ff1fffbcd655c1253390aa4e9e8e7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기술 활용에 따른 기대효과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도로 100m²당 </a:t>
            </a:r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연간 측정 가능한 파급력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3429000"/>
            <a:ext cx="12765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7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926994" y="3476549"/>
            <a:ext cx="77358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효과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3752698"/>
            <a:ext cx="7429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홍수 완화 + 지하수 함양 + 수질 개선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4295851"/>
            <a:ext cx="17337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60~75</a:t>
            </a:r>
            <a:pPr algn="l" indent="0" marL="0">
              <a:buNone/>
            </a:pPr>
            <a:r>
              <a:rPr lang="en-US" sz="15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4695444"/>
            <a:ext cx="1733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100년 빈도 강우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유출량 감소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04311" y="4295851"/>
            <a:ext cx="17337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30~90</a:t>
            </a:r>
            <a:pPr algn="l" indent="0" marL="0">
              <a:buNone/>
            </a:pPr>
            <a:r>
              <a:rPr lang="en-US" sz="15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3404311" y="4695444"/>
            <a:ext cx="1733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첨두유량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시간 지연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285232" y="4295851"/>
            <a:ext cx="2387498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400~600</a:t>
            </a:r>
            <a:pPr algn="l" indent="0" marL="0">
              <a:buNone/>
            </a:pPr>
            <a:r>
              <a:rPr lang="en-US" sz="13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m³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5285232" y="4695444"/>
            <a:ext cx="1791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지하수 함양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(1,000m²당)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225589" y="4295851"/>
            <a:ext cx="1733702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25</a:t>
            </a:r>
            <a:pPr algn="l" indent="0" marL="0">
              <a:buNone/>
            </a:pPr>
            <a:r>
              <a:rPr lang="en-US" sz="15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년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7225589" y="4695444"/>
            <a:ext cx="1733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구조물 수명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(주요 보수 없이)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524305" y="5240426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100m² × 500mm × 공극률 30% →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15.0 m³ 저수</a:t>
            </a:r>
            <a:pPr algn="l" indent="0" marL="0">
              <a:buNone/>
            </a:pPr>
            <a:r>
              <a:rPr lang="en-US" sz="12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가능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715500" y="3429000"/>
            <a:ext cx="12006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70" kern="0" dirty="0">
                <a:solidFill>
                  <a:srgbClr val="8B6B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ECONOMIC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041380" y="3476549"/>
            <a:ext cx="77358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경제적 효과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715500" y="3752698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생애주기 비용 절감 + 홍수 피해 예방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9715500" y="4295851"/>
            <a:ext cx="3543300" cy="780898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27" name="Shape 24"/>
          <p:cNvSpPr/>
          <p:nvPr/>
        </p:nvSpPr>
        <p:spPr>
          <a:xfrm>
            <a:off x="9715500" y="4295851"/>
            <a:ext cx="38405" cy="780898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05695" y="4429354"/>
            <a:ext cx="32004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1,500–3,000</a:t>
            </a:r>
            <a:pPr algn="l" indent="0" marL="0">
              <a:buNone/>
            </a:pPr>
            <a:r>
              <a:rPr lang="en-US" sz="1000" b="1" dirty="0">
                <a:solidFill>
                  <a:srgbClr val="5466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만원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905695" y="4753051"/>
            <a:ext cx="32004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30년간 1,000m²당 인프라 절감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3411505" y="4295851"/>
            <a:ext cx="3543300" cy="780898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31" name="Shape 28"/>
          <p:cNvSpPr/>
          <p:nvPr/>
        </p:nvSpPr>
        <p:spPr>
          <a:xfrm>
            <a:off x="13411505" y="4295851"/>
            <a:ext cx="38405" cy="780898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3601700" y="4429354"/>
            <a:ext cx="32004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1,000–2,000</a:t>
            </a:r>
            <a:pPr algn="l" indent="0" marL="0">
              <a:buNone/>
            </a:pPr>
            <a:r>
              <a:rPr lang="en-US" sz="1000" b="1" dirty="0">
                <a:solidFill>
                  <a:srgbClr val="54666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 만원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13601700" y="4753051"/>
            <a:ext cx="32004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1,000m²당 최대강우 피해예방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715500" y="5229454"/>
            <a:ext cx="3543300" cy="780898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35" name="Shape 32"/>
          <p:cNvSpPr/>
          <p:nvPr/>
        </p:nvSpPr>
        <p:spPr>
          <a:xfrm>
            <a:off x="9715500" y="5229454"/>
            <a:ext cx="38405" cy="780898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905695" y="5362956"/>
            <a:ext cx="32004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20–40</a:t>
            </a:r>
            <a:pPr algn="l" indent="0" marL="0">
              <a:buNone/>
            </a:pPr>
            <a:r>
              <a:rPr lang="en-US" sz="13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9905695" y="5686654"/>
            <a:ext cx="32004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빗물 배수관·저수조 건설비 절감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3411505" y="5229454"/>
            <a:ext cx="3543300" cy="780898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39" name="Shape 36"/>
          <p:cNvSpPr/>
          <p:nvPr/>
        </p:nvSpPr>
        <p:spPr>
          <a:xfrm>
            <a:off x="13411505" y="5229454"/>
            <a:ext cx="38405" cy="780898"/>
          </a:xfrm>
          <a:prstGeom prst="rect">
            <a:avLst/>
          </a:prstGeom>
          <a:solidFill>
            <a:srgbClr val="8B6B3D"/>
          </a:solidFill>
          <a:ln w="12700">
            <a:solidFill>
              <a:srgbClr val="8B6B3D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3601700" y="5362956"/>
            <a:ext cx="32004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10–30</a:t>
            </a:r>
            <a:pPr algn="l" indent="0" marL="0">
              <a:buNone/>
            </a:pPr>
            <a:r>
              <a:rPr lang="en-US" sz="1300" b="1" dirty="0">
                <a:solidFill>
                  <a:srgbClr val="8B6B3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%</a:t>
            </a:r>
            <a:endParaRPr lang="en-US" sz="2200" dirty="0"/>
          </a:p>
        </p:txBody>
      </p:sp>
      <p:sp>
        <p:nvSpPr>
          <p:cNvPr id="41" name="Text 38"/>
          <p:cNvSpPr txBox="1"/>
          <p:nvPr/>
        </p:nvSpPr>
        <p:spPr>
          <a:xfrm>
            <a:off x="13601700" y="5686654"/>
            <a:ext cx="32004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유지관리·장기 운영비 절감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524305" y="6858000"/>
            <a:ext cx="82936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70" kern="0" dirty="0">
                <a:solidFill>
                  <a:srgbClr val="3A6B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SOCIAL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2479853" y="6905549"/>
            <a:ext cx="77358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효과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524305" y="7181698"/>
            <a:ext cx="74295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준수 + 일자리 + 도시 회복력</a:t>
            </a:r>
            <a:endParaRPr lang="en-US" sz="1900" dirty="0"/>
          </a:p>
        </p:txBody>
      </p:sp>
      <p:sp>
        <p:nvSpPr>
          <p:cNvPr id="45" name="Text 42"/>
          <p:cNvSpPr txBox="1"/>
          <p:nvPr/>
        </p:nvSpPr>
        <p:spPr>
          <a:xfrm>
            <a:off x="1524305" y="7705649"/>
            <a:ext cx="742950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지상부지 손실 없이 </a:t>
            </a:r>
            <a:pPr algn="l" indent="0" marL="0">
              <a:buNone/>
            </a:pPr>
            <a:r>
              <a:rPr lang="en-US" sz="13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엄격해지는 빗물관리 규제 충족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상용화 시 설치·유지보수·센서 제조 분야 </a:t>
            </a:r>
            <a:pPr algn="l" indent="0" marL="0">
              <a:buNone/>
            </a:pPr>
            <a:r>
              <a:rPr lang="en-US" sz="13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일자리 120개</a:t>
            </a:r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창출 예상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도시 침수 위험 감소 · 지하수 재충전 · 열섬 완화 → </a:t>
            </a:r>
            <a:pPr algn="l" indent="0" marL="0">
              <a:buNone/>
            </a:pPr>
            <a:r>
              <a:rPr lang="en-US" sz="13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ESG / 스마트시티 정책 부합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9715500" y="6858000"/>
            <a:ext cx="19147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70" kern="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1756441" y="6905549"/>
            <a:ext cx="18068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B5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환경적 효과 · LEED 인증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9715500" y="7181698"/>
            <a:ext cx="7239305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LEED v4.1 최고 등급 획득의 핵심 요소</a:t>
            </a:r>
            <a:endParaRPr lang="en-US" sz="1900" dirty="0"/>
          </a:p>
        </p:txBody>
      </p:sp>
      <p:sp>
        <p:nvSpPr>
          <p:cNvPr id="49" name="Shape 46"/>
          <p:cNvSpPr/>
          <p:nvPr/>
        </p:nvSpPr>
        <p:spPr>
          <a:xfrm>
            <a:off x="9715500" y="7705649"/>
            <a:ext cx="1714500" cy="8951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D5C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9820656" y="7810805"/>
            <a:ext cx="15051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+3</a:t>
            </a:r>
            <a:endParaRPr lang="en-US" sz="2400" dirty="0"/>
          </a:p>
        </p:txBody>
      </p:sp>
      <p:sp>
        <p:nvSpPr>
          <p:cNvPr id="51" name="Text 48"/>
          <p:cNvSpPr txBox="1"/>
          <p:nvPr/>
        </p:nvSpPr>
        <p:spPr>
          <a:xfrm>
            <a:off x="9820656" y="8172907"/>
            <a:ext cx="1505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빗물관리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11558930" y="7705649"/>
            <a:ext cx="1714500" cy="8951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D5C8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1663172" y="7810805"/>
            <a:ext cx="15051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+2</a:t>
            </a:r>
            <a:endParaRPr lang="en-US" sz="2400" dirty="0"/>
          </a:p>
        </p:txBody>
      </p:sp>
      <p:sp>
        <p:nvSpPr>
          <p:cNvPr id="54" name="Text 51"/>
          <p:cNvSpPr txBox="1"/>
          <p:nvPr/>
        </p:nvSpPr>
        <p:spPr>
          <a:xfrm>
            <a:off x="11663172" y="8172907"/>
            <a:ext cx="1505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열섬 완화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3401446" y="7705649"/>
            <a:ext cx="1714500" cy="8951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D5C8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3506602" y="7810805"/>
            <a:ext cx="15051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+2</a:t>
            </a:r>
            <a:endParaRPr lang="en-US" sz="2400" dirty="0"/>
          </a:p>
        </p:txBody>
      </p:sp>
      <p:sp>
        <p:nvSpPr>
          <p:cNvPr id="57" name="Text 54"/>
          <p:cNvSpPr txBox="1"/>
          <p:nvPr/>
        </p:nvSpPr>
        <p:spPr>
          <a:xfrm>
            <a:off x="13506602" y="8172907"/>
            <a:ext cx="1505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재활용 함량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15244877" y="7705649"/>
            <a:ext cx="1714500" cy="8951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D5C8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5349118" y="7810805"/>
            <a:ext cx="15051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+2</a:t>
            </a:r>
            <a:endParaRPr lang="en-US" sz="2400" dirty="0"/>
          </a:p>
        </p:txBody>
      </p:sp>
      <p:sp>
        <p:nvSpPr>
          <p:cNvPr id="60" name="Text 57"/>
          <p:cNvSpPr txBox="1"/>
          <p:nvPr/>
        </p:nvSpPr>
        <p:spPr>
          <a:xfrm>
            <a:off x="15349118" y="8172907"/>
            <a:ext cx="15051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실외용수</a:t>
            </a:r>
            <a:endParaRPr lang="en-US" sz="900" dirty="0"/>
          </a:p>
        </p:txBody>
      </p:sp>
      <p:sp>
        <p:nvSpPr>
          <p:cNvPr id="61" name="Text 58"/>
          <p:cNvSpPr txBox="1"/>
          <p:nvPr/>
        </p:nvSpPr>
        <p:spPr>
          <a:xfrm>
            <a:off x="1143000" y="9715500"/>
            <a:ext cx="10222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기대효과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6554298" y="9715500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19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238805"/>
            <a:ext cx="5238598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72707" y="3238805"/>
            <a:ext cx="5238598" cy="495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01500" y="3143707"/>
            <a:ext cx="5143500" cy="5143500"/>
          </a:xfrm>
          <a:prstGeom prst="rect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8477402"/>
            <a:ext cx="16002000" cy="952805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8477402"/>
            <a:ext cx="57607" cy="952805"/>
          </a:xfrm>
          <a:prstGeom prst="rect">
            <a:avLst/>
          </a:prstGeom>
          <a:solidFill>
            <a:srgbClr val="1E5F5A"/>
          </a:solidFill>
          <a:ln w="12700">
            <a:solidFill>
              <a:srgbClr val="1E5F5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238805"/>
            <a:ext cx="5238598" cy="571500"/>
          </a:xfrm>
          <a:prstGeom prst="rect">
            <a:avLst/>
          </a:prstGeom>
          <a:solidFill>
            <a:srgbClr val="2A3B4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2707" y="3238805"/>
            <a:ext cx="5238598" cy="571500"/>
          </a:xfrm>
          <a:prstGeom prst="rect">
            <a:avLst/>
          </a:prstGeom>
          <a:solidFill>
            <a:srgbClr val="8B6B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0" y="3143707"/>
            <a:ext cx="5143500" cy="571500"/>
          </a:xfrm>
          <a:prstGeom prst="rect">
            <a:avLst/>
          </a:prstGeom>
          <a:solidFill>
            <a:srgbClr val="1547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gen-dedup-05ff1fffbcd655c1253390aa4e9e8e7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기술 실증 계획 — 홍수 설계 모델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설계 홍수량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 정확히 흡수하도록 입도를 결정합니다</a:t>
            </a:r>
            <a:endParaRPr lang="en-US" sz="42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175358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100m² 부지 · H=500mm · 강우강도 140 mm/hr (100년 빈도의 150%) · 설계 유출량 Q = 12.6 m³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429207" y="3381451"/>
            <a:ext cx="160934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도로 기층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322722" y="3476549"/>
            <a:ext cx="7818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58" kern="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29207" y="4095598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공극률 (n)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819449" y="4095598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0.20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29207" y="4457700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 깊이 (H)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819449" y="4457700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 mm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429207" y="4819802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강우 강도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819449" y="4819802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 mm/hr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429207" y="5296205"/>
            <a:ext cx="4667098" cy="1429207"/>
          </a:xfrm>
          <a:prstGeom prst="rect">
            <a:avLst/>
          </a:prstGeom>
          <a:solidFill>
            <a:srgbClr val="F8EFEC"/>
          </a:solidFill>
          <a:ln/>
        </p:spPr>
      </p:sp>
      <p:sp>
        <p:nvSpPr>
          <p:cNvPr id="25" name="Shape 22"/>
          <p:cNvSpPr/>
          <p:nvPr/>
        </p:nvSpPr>
        <p:spPr>
          <a:xfrm>
            <a:off x="1429207" y="5296205"/>
            <a:ext cx="38405" cy="1429207"/>
          </a:xfrm>
          <a:prstGeom prst="rect">
            <a:avLst/>
          </a:prstGeom>
          <a:solidFill>
            <a:srgbClr val="B14A2A"/>
          </a:solidFill>
          <a:ln w="12700">
            <a:solidFill>
              <a:srgbClr val="B14A2A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657807" y="5486400"/>
            <a:ext cx="42483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 용량 V = n·A·H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657807" y="5734202"/>
            <a:ext cx="4248302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14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10.0 </a:t>
            </a:r>
            <a:pPr algn="l" indent="0" marL="0">
              <a:buNone/>
            </a:pPr>
            <a:r>
              <a:rPr lang="en-US" sz="1800" b="1" dirty="0">
                <a:solidFill>
                  <a:srgbClr val="B14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m³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1657807" y="6305702"/>
            <a:ext cx="42483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0.79 × Q_설계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1429207" y="6896405"/>
            <a:ext cx="4667098" cy="514807"/>
          </a:xfrm>
          <a:prstGeom prst="rect">
            <a:avLst/>
          </a:prstGeom>
          <a:solidFill>
            <a:srgbClr val="FFE6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54426" y="7029907"/>
            <a:ext cx="1619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spc="270" kern="0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N.G. ✕ 부적합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858000" y="3381451"/>
            <a:ext cx="220919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① · 40mm 골재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0960913" y="3476549"/>
            <a:ext cx="6665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58" kern="0" dirty="0">
                <a:solidFill>
                  <a:srgbClr val="F0E2C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CASE-1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858000" y="4095598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공극률 (n)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249156" y="4095598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0.25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0" y="4457700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 깊이 (H)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9249156" y="4457700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 mm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0" y="4819802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강우 강도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249156" y="4819802"/>
            <a:ext cx="22768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 mm/hr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858000" y="5296205"/>
            <a:ext cx="4667098" cy="1429207"/>
          </a:xfrm>
          <a:prstGeom prst="rect">
            <a:avLst/>
          </a:prstGeom>
          <a:solidFill>
            <a:srgbClr val="F8EFEC"/>
          </a:solidFill>
          <a:ln/>
        </p:spPr>
      </p:sp>
      <p:sp>
        <p:nvSpPr>
          <p:cNvPr id="40" name="Shape 37"/>
          <p:cNvSpPr/>
          <p:nvPr/>
        </p:nvSpPr>
        <p:spPr>
          <a:xfrm>
            <a:off x="6858000" y="5296205"/>
            <a:ext cx="38405" cy="1429207"/>
          </a:xfrm>
          <a:prstGeom prst="rect">
            <a:avLst/>
          </a:prstGeom>
          <a:solidFill>
            <a:srgbClr val="B14A2A"/>
          </a:solidFill>
          <a:ln w="12700">
            <a:solidFill>
              <a:srgbClr val="B14A2A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086600" y="5486400"/>
            <a:ext cx="42483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 용량 V = n·A·H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086600" y="5734202"/>
            <a:ext cx="4248302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14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12.5 </a:t>
            </a:r>
            <a:pPr algn="l" indent="0" marL="0">
              <a:buNone/>
            </a:pPr>
            <a:r>
              <a:rPr lang="en-US" sz="1800" b="1" dirty="0">
                <a:solidFill>
                  <a:srgbClr val="B14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m³</a:t>
            </a:r>
            <a:endParaRPr lang="en-US" sz="4000" dirty="0"/>
          </a:p>
        </p:txBody>
      </p:sp>
      <p:sp>
        <p:nvSpPr>
          <p:cNvPr id="43" name="Text 40"/>
          <p:cNvSpPr txBox="1"/>
          <p:nvPr/>
        </p:nvSpPr>
        <p:spPr>
          <a:xfrm>
            <a:off x="7086600" y="6305702"/>
            <a:ext cx="42483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0.99 × Q_설계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858000" y="6896405"/>
            <a:ext cx="4667098" cy="514807"/>
          </a:xfrm>
          <a:prstGeom prst="rect">
            <a:avLst/>
          </a:prstGeom>
          <a:solidFill>
            <a:srgbClr val="FFE6D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992770" y="7029907"/>
            <a:ext cx="239938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spc="270" kern="0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N.G. ✕ 안전여유 부족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12287707" y="3286354"/>
            <a:ext cx="220919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 ② · 75mm 골재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16057778" y="3381451"/>
            <a:ext cx="81015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58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SELECTED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2287707" y="4000500"/>
            <a:ext cx="22293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공극률 (n)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14630400" y="4000500"/>
            <a:ext cx="22293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0.32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12287707" y="4362602"/>
            <a:ext cx="22293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 깊이 (H)</a:t>
            </a:r>
            <a:endParaRPr lang="en-US" sz="1300" dirty="0"/>
          </a:p>
        </p:txBody>
      </p:sp>
      <p:sp>
        <p:nvSpPr>
          <p:cNvPr id="51" name="Text 48"/>
          <p:cNvSpPr txBox="1"/>
          <p:nvPr/>
        </p:nvSpPr>
        <p:spPr>
          <a:xfrm>
            <a:off x="14630400" y="4362602"/>
            <a:ext cx="22293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500 mm</a:t>
            </a:r>
            <a:endParaRPr lang="en-US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12287707" y="4724705"/>
            <a:ext cx="22293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강우 강도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14630400" y="4724705"/>
            <a:ext cx="22293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 mm/hr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12287707" y="5201107"/>
            <a:ext cx="4572000" cy="1429207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12287707" y="5201107"/>
            <a:ext cx="38405" cy="1429207"/>
          </a:xfrm>
          <a:prstGeom prst="rect">
            <a:avLst/>
          </a:prstGeom>
          <a:solidFill>
            <a:srgbClr val="F5E6B8"/>
          </a:solidFill>
          <a:ln w="12700">
            <a:solidFill>
              <a:srgbClr val="F5E6B8">
                <a:alpha val="0"/>
              </a:srgbClr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2516307" y="5391302"/>
            <a:ext cx="41532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05" kern="0" dirty="0">
                <a:solidFill>
                  <a:srgbClr val="A8D5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 용량 V = n·A·H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12516307" y="5639105"/>
            <a:ext cx="415320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16.0 </a:t>
            </a:r>
            <a:pPr algn="l" indent="0" marL="0">
              <a:buNone/>
            </a:pPr>
            <a:r>
              <a:rPr lang="en-US" sz="18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m³</a:t>
            </a:r>
            <a:endParaRPr lang="en-US" sz="4000" dirty="0"/>
          </a:p>
        </p:txBody>
      </p:sp>
      <p:sp>
        <p:nvSpPr>
          <p:cNvPr id="58" name="Text 55"/>
          <p:cNvSpPr txBox="1"/>
          <p:nvPr/>
        </p:nvSpPr>
        <p:spPr>
          <a:xfrm>
            <a:off x="12516307" y="6210605"/>
            <a:ext cx="41532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1.27 × Q_설계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12287707" y="6801307"/>
            <a:ext cx="4572000" cy="514807"/>
          </a:xfrm>
          <a:prstGeom prst="rect">
            <a:avLst/>
          </a:prstGeom>
          <a:solidFill>
            <a:srgbClr val="F5E6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3871448" y="6933895"/>
            <a:ext cx="14072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spc="270" kern="0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O.K. ✓ 채택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524305" y="8667598"/>
            <a:ext cx="1543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SELECTION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524305" y="8953805"/>
            <a:ext cx="15430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75mm 골재 · 공극률 32% 구성을 </a:t>
            </a:r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실증 단면</a:t>
            </a:r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선정 — 설계 홍수량 대비 </a:t>
            </a:r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27% 안전여유</a:t>
            </a:r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확보</a:t>
            </a:r>
            <a:endParaRPr lang="en-US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1143000" y="9715500"/>
            <a:ext cx="31811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기술 실증 계획 · 홍수 설계 모델</a:t>
            </a:r>
            <a:endParaRPr lang="en-US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16554298" y="9715500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19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238805"/>
            <a:ext cx="3810305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3500" y="3238805"/>
            <a:ext cx="3810305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3238805"/>
            <a:ext cx="3810305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44500" y="3238805"/>
            <a:ext cx="4000500" cy="3143707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6572707"/>
            <a:ext cx="3810305" cy="2476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0" y="6572707"/>
            <a:ext cx="3810305" cy="2476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6572707"/>
            <a:ext cx="3810305" cy="2476195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144500" y="6572707"/>
            <a:ext cx="4000500" cy="2476195"/>
          </a:xfrm>
          <a:prstGeom prst="rect">
            <a:avLst/>
          </a:prstGeom>
          <a:solidFill>
            <a:srgbClr val="1E5F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gen-dedup-0d11aa29145a1fb711fbcddfca514d79.png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5143500" y="6572707"/>
            <a:ext cx="3810305" cy="147675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0" y="6572707"/>
            <a:ext cx="3810305" cy="1476756"/>
          </a:xfrm>
          <a:prstGeom prst="rect">
            <a:avLst/>
          </a:prstGeom>
          <a:solidFill>
            <a:srgbClr val="0F1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gen-dedup-05ff1fffbcd655c1253390aa4e9e8e7a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pic>
        <p:nvPicPr>
          <p:cNvPr id="15" name="Image 2" descr="gen-dedup-2a3d26eef640d3abaa37c64c5fac812b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38805"/>
            <a:ext cx="3810305" cy="1908823"/>
          </a:xfrm>
          <a:prstGeom prst="rect">
            <a:avLst/>
          </a:prstGeom>
        </p:spPr>
      </p:pic>
      <p:pic>
        <p:nvPicPr>
          <p:cNvPr id="16" name="Image 3" descr="gen-dedup-18bf8e6913b31df5f684f1b82a77fecf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3238805"/>
            <a:ext cx="3810305" cy="1908823"/>
          </a:xfrm>
          <a:prstGeom prst="rect">
            <a:avLst/>
          </a:prstGeom>
        </p:spPr>
      </p:pic>
      <p:pic>
        <p:nvPicPr>
          <p:cNvPr id="17" name="Image 4" descr="gen-dedup-2eaba6b6d9a2f3040d8af441730a4cd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38805"/>
            <a:ext cx="3810305" cy="1905152"/>
          </a:xfrm>
          <a:prstGeom prst="rect">
            <a:avLst/>
          </a:prstGeom>
        </p:spPr>
      </p:pic>
      <p:pic>
        <p:nvPicPr>
          <p:cNvPr id="18" name="Image 5" descr="gen-dedup-9098d8dde2e56e741ab7ed92d630fb6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4500" y="3238805"/>
            <a:ext cx="4000500" cy="1906488"/>
          </a:xfrm>
          <a:prstGeom prst="rect">
            <a:avLst/>
          </a:prstGeom>
        </p:spPr>
      </p:pic>
      <p:pic>
        <p:nvPicPr>
          <p:cNvPr id="19" name="Image 6" descr="gen-dedup-198fcb4f3403a7a2b223218b46d78cd9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6572707"/>
            <a:ext cx="3810305" cy="1480437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기술 실증 계획 — 시공 절차</a:t>
            </a:r>
            <a:endParaRPr lang="en-US" sz="1500" dirty="0"/>
          </a:p>
        </p:txBody>
      </p:sp>
      <p:sp>
        <p:nvSpPr>
          <p:cNvPr id="21" name="Text 12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하부에서 상부로, </a:t>
            </a:r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8단계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로 시공합니다</a:t>
            </a:r>
            <a:endParaRPr lang="en-US" sz="4200" dirty="0"/>
          </a:p>
        </p:txBody>
      </p:sp>
      <p:sp>
        <p:nvSpPr>
          <p:cNvPr id="22" name="Text 13"/>
          <p:cNvSpPr txBox="1"/>
          <p:nvPr/>
        </p:nvSpPr>
        <p:spPr>
          <a:xfrm>
            <a:off x="1143000" y="2175358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시공 기간 3개월 · 시험구획 건설 + 강우 모의시험 + 구조물 하중시험 + 데이터 수집</a:t>
            </a:r>
            <a:endParaRPr lang="en-US" sz="1600" dirty="0"/>
          </a:p>
        </p:txBody>
      </p:sp>
      <p:sp>
        <p:nvSpPr>
          <p:cNvPr id="23" name="Text 14"/>
          <p:cNvSpPr txBox="1"/>
          <p:nvPr/>
        </p:nvSpPr>
        <p:spPr>
          <a:xfrm>
            <a:off x="1333195" y="5296205"/>
            <a:ext cx="3913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2400" dirty="0"/>
          </a:p>
        </p:txBody>
      </p:sp>
      <p:sp>
        <p:nvSpPr>
          <p:cNvPr id="24" name="Text 15"/>
          <p:cNvSpPr txBox="1"/>
          <p:nvPr/>
        </p:nvSpPr>
        <p:spPr>
          <a:xfrm>
            <a:off x="1756562" y="5333695"/>
            <a:ext cx="44714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굴착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1333195" y="569579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깊이 약 700mm · 고르기 ±20mm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고인물 배수</a:t>
            </a:r>
            <a:endParaRPr lang="en-US" sz="1200" dirty="0"/>
          </a:p>
        </p:txBody>
      </p:sp>
      <p:sp>
        <p:nvSpPr>
          <p:cNvPr id="26" name="Text 17"/>
          <p:cNvSpPr txBox="1"/>
          <p:nvPr/>
        </p:nvSpPr>
        <p:spPr>
          <a:xfrm>
            <a:off x="5333695" y="5296205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2400" dirty="0"/>
          </a:p>
        </p:txBody>
      </p:sp>
      <p:sp>
        <p:nvSpPr>
          <p:cNvPr id="27" name="Text 18"/>
          <p:cNvSpPr txBox="1"/>
          <p:nvPr/>
        </p:nvSpPr>
        <p:spPr>
          <a:xfrm>
            <a:off x="5802782" y="5333695"/>
            <a:ext cx="192206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지오텍스타일 설치</a:t>
            </a:r>
            <a:endParaRPr lang="en-US" sz="1600" dirty="0"/>
          </a:p>
        </p:txBody>
      </p:sp>
      <p:sp>
        <p:nvSpPr>
          <p:cNvPr id="28" name="Text 19"/>
          <p:cNvSpPr txBox="1"/>
          <p:nvPr/>
        </p:nvSpPr>
        <p:spPr>
          <a:xfrm>
            <a:off x="5333695" y="569579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겹침 300–500mm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주름·손상 방지, 앵커핀 1m 간격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9334195" y="5296205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2400" dirty="0"/>
          </a:p>
        </p:txBody>
      </p:sp>
      <p:sp>
        <p:nvSpPr>
          <p:cNvPr id="30" name="Text 21"/>
          <p:cNvSpPr txBox="1"/>
          <p:nvPr/>
        </p:nvSpPr>
        <p:spPr>
          <a:xfrm>
            <a:off x="9803282" y="5333695"/>
            <a:ext cx="160934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 골재 포설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9334195" y="569579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층 두께 500mm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세척 25–75mm 개방형 입도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13334695" y="5296205"/>
            <a:ext cx="381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Text 24"/>
          <p:cNvSpPr txBox="1"/>
          <p:nvPr/>
        </p:nvSpPr>
        <p:spPr>
          <a:xfrm>
            <a:off x="13803782" y="5333695"/>
            <a:ext cx="44714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다짐</a:t>
            </a:r>
            <a:endParaRPr lang="en-US" sz="1600" dirty="0"/>
          </a:p>
        </p:txBody>
      </p:sp>
      <p:sp>
        <p:nvSpPr>
          <p:cNvPr id="34" name="Text 25"/>
          <p:cNvSpPr txBox="1"/>
          <p:nvPr/>
        </p:nvSpPr>
        <p:spPr>
          <a:xfrm>
            <a:off x="13334695" y="5695798"/>
            <a:ext cx="3620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 다짐만 적용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진동 롤러 다짐 제외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(공극 보호)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1333195" y="8172907"/>
            <a:ext cx="36850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27"/>
          <p:cNvSpPr txBox="1"/>
          <p:nvPr/>
        </p:nvSpPr>
        <p:spPr>
          <a:xfrm>
            <a:off x="1778508" y="8220456"/>
            <a:ext cx="166603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배수 파이프 설치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1333195" y="8534095"/>
            <a:ext cx="3429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저수층 바닥 · 경사 0.5–1%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지오텍스타일로 감쌈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5333695" y="7239305"/>
            <a:ext cx="342900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135" kern="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CHOKE LAYER</a:t>
            </a:r>
            <a:endParaRPr lang="en-US" sz="2700" dirty="0"/>
          </a:p>
        </p:txBody>
      </p:sp>
      <p:sp>
        <p:nvSpPr>
          <p:cNvPr id="39" name="Text 30"/>
          <p:cNvSpPr txBox="1"/>
          <p:nvPr/>
        </p:nvSpPr>
        <p:spPr>
          <a:xfrm>
            <a:off x="5333695" y="8172907"/>
            <a:ext cx="36850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06</a:t>
            </a:r>
            <a:endParaRPr lang="en-US" sz="2200" dirty="0"/>
          </a:p>
        </p:txBody>
      </p:sp>
      <p:sp>
        <p:nvSpPr>
          <p:cNvPr id="40" name="Text 31"/>
          <p:cNvSpPr txBox="1"/>
          <p:nvPr/>
        </p:nvSpPr>
        <p:spPr>
          <a:xfrm>
            <a:off x="5779008" y="8220456"/>
            <a:ext cx="154442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막힘방지층 설치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5333695" y="8534095"/>
            <a:ext cx="3429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두께 50mm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상부로부터의 막힘 방지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9334195" y="6782105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10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SENSORS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9334195" y="7105802"/>
            <a:ext cx="1686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수위계</a:t>
            </a:r>
            <a:endParaRPr lang="en-US" sz="1000" dirty="0"/>
          </a:p>
        </p:txBody>
      </p:sp>
      <p:sp>
        <p:nvSpPr>
          <p:cNvPr id="44" name="Text 35"/>
          <p:cNvSpPr txBox="1"/>
          <p:nvPr/>
        </p:nvSpPr>
        <p:spPr>
          <a:xfrm>
            <a:off x="11077956" y="7105802"/>
            <a:ext cx="1686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침하판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9334195" y="7353605"/>
            <a:ext cx="1686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유량계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11077956" y="7353605"/>
            <a:ext cx="16861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예비 전선관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9334195" y="8172907"/>
            <a:ext cx="36850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07</a:t>
            </a:r>
            <a:endParaRPr lang="en-US" sz="2200" dirty="0"/>
          </a:p>
        </p:txBody>
      </p:sp>
      <p:sp>
        <p:nvSpPr>
          <p:cNvPr id="48" name="Text 39"/>
          <p:cNvSpPr txBox="1"/>
          <p:nvPr/>
        </p:nvSpPr>
        <p:spPr>
          <a:xfrm>
            <a:off x="9778594" y="8220456"/>
            <a:ext cx="113842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계측기 설치</a:t>
            </a:r>
            <a:endParaRPr lang="en-US" sz="1500" dirty="0"/>
          </a:p>
        </p:txBody>
      </p:sp>
      <p:sp>
        <p:nvSpPr>
          <p:cNvPr id="49" name="Text 40"/>
          <p:cNvSpPr txBox="1"/>
          <p:nvPr/>
        </p:nvSpPr>
        <p:spPr>
          <a:xfrm>
            <a:off x="9334195" y="8534095"/>
            <a:ext cx="379110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수위계 중간 깊이 · 침하판 보조기층 · 유량계 배수구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13334695" y="6782105"/>
            <a:ext cx="3620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10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 TESTS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13334695" y="7086600"/>
            <a:ext cx="3620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투과율 (물 부어 관찰)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배수성 (저수→배수시간 측정)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육안 (표면 물고임 점검)</a:t>
            </a:r>
            <a:endParaRPr lang="en-US" sz="1100" dirty="0"/>
          </a:p>
        </p:txBody>
      </p:sp>
      <p:sp>
        <p:nvSpPr>
          <p:cNvPr id="52" name="Text 43"/>
          <p:cNvSpPr txBox="1"/>
          <p:nvPr/>
        </p:nvSpPr>
        <p:spPr>
          <a:xfrm>
            <a:off x="13334695" y="8172907"/>
            <a:ext cx="368503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08</a:t>
            </a:r>
            <a:endParaRPr lang="en-US" sz="2200" dirty="0"/>
          </a:p>
        </p:txBody>
      </p:sp>
      <p:sp>
        <p:nvSpPr>
          <p:cNvPr id="53" name="Text 44"/>
          <p:cNvSpPr txBox="1"/>
          <p:nvPr/>
        </p:nvSpPr>
        <p:spPr>
          <a:xfrm>
            <a:off x="13780008" y="8220456"/>
            <a:ext cx="93543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시험</a:t>
            </a:r>
            <a:endParaRPr lang="en-US" sz="1500" dirty="0"/>
          </a:p>
        </p:txBody>
      </p:sp>
      <p:sp>
        <p:nvSpPr>
          <p:cNvPr id="54" name="Text 45"/>
          <p:cNvSpPr txBox="1"/>
          <p:nvPr/>
        </p:nvSpPr>
        <p:spPr>
          <a:xfrm>
            <a:off x="13334695" y="8534095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9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시공 완료 직후 3가지 즉시 평가</a:t>
            </a:r>
            <a:endParaRPr lang="en-US" sz="1100" dirty="0"/>
          </a:p>
        </p:txBody>
      </p:sp>
      <p:sp>
        <p:nvSpPr>
          <p:cNvPr id="55" name="Text 46"/>
          <p:cNvSpPr txBox="1"/>
          <p:nvPr/>
        </p:nvSpPr>
        <p:spPr>
          <a:xfrm>
            <a:off x="1143000" y="9715500"/>
            <a:ext cx="328726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기술 실증 계획 · 시공 절차 8단계</a:t>
            </a:r>
            <a:endParaRPr lang="en-US" sz="1200" dirty="0"/>
          </a:p>
        </p:txBody>
      </p:sp>
      <p:sp>
        <p:nvSpPr>
          <p:cNvPr id="56" name="Text 47"/>
          <p:cNvSpPr txBox="1"/>
          <p:nvPr/>
        </p:nvSpPr>
        <p:spPr>
          <a:xfrm>
            <a:off x="16554298" y="9715500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19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4000500"/>
            <a:ext cx="8287207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5810098"/>
            <a:ext cx="8287207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7619695"/>
            <a:ext cx="8287207" cy="161940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10598" y="3143707"/>
            <a:ext cx="7334402" cy="6096305"/>
          </a:xfrm>
          <a:prstGeom prst="rect">
            <a:avLst/>
          </a:prstGeom>
          <a:solidFill>
            <a:srgbClr val="0F1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gen-dedup-751bd43b56a24e388dbe30383eb1c48e.png">    </p:cNvPr>
          <p:cNvPicPr>
            <a:picLocks noChangeAspect="1"/>
          </p:cNvPicPr>
          <p:nvPr/>
        </p:nvPicPr>
        <p:blipFill>
          <a:blip r:embed="rId1"/>
          <a:srcRect l="-395" r="-395" t="0" b="0"/>
          <a:stretch/>
        </p:blipFill>
        <p:spPr>
          <a:xfrm>
            <a:off x="1143000" y="4000500"/>
            <a:ext cx="57607" cy="1619402"/>
          </a:xfrm>
          <a:prstGeom prst="rect">
            <a:avLst/>
          </a:prstGeom>
        </p:spPr>
      </p:pic>
      <p:pic>
        <p:nvPicPr>
          <p:cNvPr id="9" name="Image 1" descr="gen-dedup-800755f980fef8ef7730a1654467a280.png">    </p:cNvPr>
          <p:cNvPicPr>
            <a:picLocks noChangeAspect="1"/>
          </p:cNvPicPr>
          <p:nvPr/>
        </p:nvPicPr>
        <p:blipFill>
          <a:blip r:embed="rId2"/>
          <a:srcRect l="-395" r="-395" t="0" b="0"/>
          <a:stretch/>
        </p:blipFill>
        <p:spPr>
          <a:xfrm>
            <a:off x="1143000" y="5810098"/>
            <a:ext cx="57607" cy="1619402"/>
          </a:xfrm>
          <a:prstGeom prst="rect">
            <a:avLst/>
          </a:prstGeom>
        </p:spPr>
      </p:pic>
      <p:pic>
        <p:nvPicPr>
          <p:cNvPr id="10" name="Image 2" descr="gen-dedup-c314616d7fc995fa0d879e9338711889.png">    </p:cNvPr>
          <p:cNvPicPr>
            <a:picLocks noChangeAspect="1"/>
          </p:cNvPicPr>
          <p:nvPr/>
        </p:nvPicPr>
        <p:blipFill>
          <a:blip r:embed="rId3"/>
          <a:srcRect l="-395" r="-395" t="0" b="0"/>
          <a:stretch/>
        </p:blipFill>
        <p:spPr>
          <a:xfrm>
            <a:off x="1143000" y="7619695"/>
            <a:ext cx="57607" cy="1619402"/>
          </a:xfrm>
          <a:prstGeom prst="rect">
            <a:avLst/>
          </a:prstGeom>
        </p:spPr>
      </p:pic>
      <p:pic>
        <p:nvPicPr>
          <p:cNvPr id="11" name="Image 3" descr="gen-dedup-05ff1fffbcd655c1253390aa4e9e8e7a.png">    </p:cNvPr>
          <p:cNvPicPr>
            <a:picLocks noChangeAspect="1"/>
          </p:cNvPicPr>
          <p:nvPr/>
        </p:nvPicPr>
        <p:blipFill>
          <a:blip r:embed="rId4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기술 실증 계획 — 운영 유지보수 · 노반 모니터링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25년 수명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은 운영 단계의 데이터로 지킵니다</a:t>
            </a:r>
            <a:endParaRPr lang="en-US" sz="42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2156155"/>
            <a:ext cx="16193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‘단단한 층’ 형성 방지를 위한 3단계 유지보수 + 노반 모니터링 + 침하 대응 프로토콜.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3143707"/>
            <a:ext cx="8287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LIFECYCLE MAINTENANCE · 3단계 유지보수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3448202"/>
            <a:ext cx="8287207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퇴적물이 굳기 전에 단계별로 개입</a:t>
            </a:r>
            <a:endParaRPr lang="en-US" sz="2100" dirty="0"/>
          </a:p>
        </p:txBody>
      </p:sp>
      <p:sp>
        <p:nvSpPr>
          <p:cNvPr id="17" name="Text 11"/>
          <p:cNvSpPr txBox="1"/>
          <p:nvPr/>
        </p:nvSpPr>
        <p:spPr>
          <a:xfrm>
            <a:off x="1524305" y="4286707"/>
            <a:ext cx="1334110" cy="267005"/>
          </a:xfrm>
          <a:prstGeom prst="rect">
            <a:avLst/>
          </a:prstGeom>
          <a:solidFill>
            <a:srgbClr val="4A6A3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00" b="1" spc="158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1 · 예방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3041294" y="4229100"/>
            <a:ext cx="246522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청소 (분기/반기)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120786" y="4324198"/>
            <a:ext cx="138531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FREQUENCY · 분기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524305" y="4667098"/>
            <a:ext cx="7715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잎·먼지·미세 퇴적물의 표면 축적 단계 —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고압세척 + 진공 흡입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막힘 시작 전에 제거. 막힘방지층 진입 전 차단이 핵심.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524305" y="6096305"/>
            <a:ext cx="1334110" cy="267005"/>
          </a:xfrm>
          <a:prstGeom prst="rect">
            <a:avLst/>
          </a:prstGeom>
          <a:solidFill>
            <a:srgbClr val="A8854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00" b="1" spc="158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2 · 보정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3041294" y="6038698"/>
            <a:ext cx="192755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국부 복원 (연 1회)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048549" y="6133795"/>
            <a:ext cx="157093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TRIGGER · 센서 경보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524305" y="6476695"/>
            <a:ext cx="7715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배수 시간이 24~48h를 초과하기 시작하는 국부 영역 —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침강조 청소 + 유공관 역세척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스마트 모니터링이 알린 좌표만 선택적으로 시공.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524305" y="7905902"/>
            <a:ext cx="1334110" cy="267005"/>
          </a:xfrm>
          <a:prstGeom prst="rect">
            <a:avLst/>
          </a:prstGeom>
          <a:solidFill>
            <a:srgbClr val="B14A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algn="l" indent="0" marL="0">
              <a:buNone/>
            </a:pPr>
            <a:r>
              <a:rPr lang="en-US" sz="1000" b="1" spc="158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3 · 회복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3041294" y="7848295"/>
            <a:ext cx="224028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보수 (필요 시)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824521" y="7944307"/>
            <a:ext cx="17273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TRIGGER · 침하 10mm+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1524305" y="8287207"/>
            <a:ext cx="771570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폴리우레탄 그라우트 주입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노반 토양에 직접 주입, 굴착 없이 지면 높이까지 들어올림. 표면 침하 시 막힘방지층 제거 후 재평탄화 + 정적 롤러로 하중 재분산.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0191902" y="3429000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40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SUBGRADE MONITORING · 노반 모니터링 네트워크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0191902" y="3733495"/>
            <a:ext cx="66678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노반-경계면까지 들여다보는</a:t>
            </a:r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피에조미터 네트워크</a:t>
            </a:r>
            <a:endParaRPr lang="en-US" sz="2100" dirty="0"/>
          </a:p>
        </p:txBody>
      </p:sp>
      <p:sp>
        <p:nvSpPr>
          <p:cNvPr id="31" name="Text 25"/>
          <p:cNvSpPr txBox="1"/>
          <p:nvPr/>
        </p:nvSpPr>
        <p:spPr>
          <a:xfrm>
            <a:off x="10191902" y="4560113"/>
            <a:ext cx="76343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지하수위 변동·융기·측방 수분 이동을 정확히 감지 — 노반 연화나 국부 지반 침하의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신호</a:t>
            </a:r>
            <a:pPr algn="l" indent="0" marL="0">
              <a:buNone/>
            </a:pPr>
            <a:r>
              <a:rPr lang="en-US" sz="12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포착.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10191902" y="5143500"/>
            <a:ext cx="3258007" cy="1086307"/>
          </a:xfrm>
          <a:prstGeom prst="rect">
            <a:avLst/>
          </a:prstGeom>
          <a:solidFill>
            <a:srgbClr val="F5E6B8">
              <a:alpha val="10000"/>
            </a:srgbClr>
          </a:solidFill>
          <a:ln w="12700">
            <a:solidFill>
              <a:srgbClr val="54666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0372954" y="5324551"/>
            <a:ext cx="28959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46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PIEZOMETER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0372954" y="5562295"/>
            <a:ext cx="28959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중첩 피에조미터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10372954" y="5842102"/>
            <a:ext cx="3407054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노반 경계면 아래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2~3m 깊이</a:t>
            </a:r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최소 3개 모니터링 웰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13601700" y="5143500"/>
            <a:ext cx="3258007" cy="1086307"/>
          </a:xfrm>
          <a:prstGeom prst="rect">
            <a:avLst/>
          </a:prstGeom>
          <a:solidFill>
            <a:srgbClr val="F5E6B8">
              <a:alpha val="10000"/>
            </a:srgbClr>
          </a:solidFill>
          <a:ln w="12700">
            <a:solidFill>
              <a:srgbClr val="54666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13782751" y="5324551"/>
            <a:ext cx="28959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46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VW PRESSURE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3782751" y="5562295"/>
            <a:ext cx="28959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진동 와이어 압력변환기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13782751" y="5842102"/>
            <a:ext cx="2895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데이터 로거 + 연속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간극수압 추적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10191902" y="6376111"/>
            <a:ext cx="3258007" cy="1086307"/>
          </a:xfrm>
          <a:prstGeom prst="rect">
            <a:avLst/>
          </a:prstGeom>
          <a:solidFill>
            <a:srgbClr val="F5E6B8">
              <a:alpha val="10000"/>
            </a:srgbClr>
          </a:solidFill>
          <a:ln w="12700">
            <a:solidFill>
              <a:srgbClr val="54666F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0372954" y="6557162"/>
            <a:ext cx="28959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46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INCLINOMETER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0372954" y="6794906"/>
            <a:ext cx="28959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경사계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10372954" y="7074713"/>
            <a:ext cx="2895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측방 변위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2mm 초과</a:t>
            </a:r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사면 불안정 경보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13601700" y="6376111"/>
            <a:ext cx="3258007" cy="1086307"/>
          </a:xfrm>
          <a:prstGeom prst="rect">
            <a:avLst/>
          </a:prstGeom>
          <a:solidFill>
            <a:srgbClr val="F5E6B8">
              <a:alpha val="10000"/>
            </a:srgbClr>
          </a:solidFill>
          <a:ln w="12700">
            <a:solidFill>
              <a:srgbClr val="54666F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13782751" y="6557162"/>
            <a:ext cx="28959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46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SETTLEMENT PIN</a:t>
            </a:r>
            <a:endParaRPr lang="en-US" sz="900" dirty="0"/>
          </a:p>
        </p:txBody>
      </p:sp>
      <p:sp>
        <p:nvSpPr>
          <p:cNvPr id="46" name="Text 40"/>
          <p:cNvSpPr txBox="1"/>
          <p:nvPr/>
        </p:nvSpPr>
        <p:spPr>
          <a:xfrm>
            <a:off x="13782751" y="6794906"/>
            <a:ext cx="28959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침하 측정 핀</a:t>
            </a:r>
            <a:endParaRPr lang="en-US" sz="1300" dirty="0"/>
          </a:p>
        </p:txBody>
      </p:sp>
      <p:sp>
        <p:nvSpPr>
          <p:cNvPr id="47" name="Text 41"/>
          <p:cNvSpPr txBox="1"/>
          <p:nvPr/>
        </p:nvSpPr>
        <p:spPr>
          <a:xfrm>
            <a:off x="13782751" y="7074713"/>
            <a:ext cx="2895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지표면 누적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10mm 초과</a:t>
            </a:r>
            <a:pPr algn="l" indent="0" marL="0">
              <a:buNone/>
            </a:pPr>
            <a:r>
              <a:rPr lang="en-US" sz="1000" dirty="0">
                <a:solidFill>
                  <a:srgbClr val="D8D3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 노반 압밀 판정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10191902" y="7627010"/>
            <a:ext cx="6667805" cy="638251"/>
          </a:xfrm>
          <a:prstGeom prst="rect">
            <a:avLst/>
          </a:prstGeom>
          <a:solidFill>
            <a:srgbClr val="B14A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10362895" y="7779715"/>
            <a:ext cx="113386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!</a:t>
            </a:r>
            <a:endParaRPr lang="en-US" sz="1800" dirty="0"/>
          </a:p>
        </p:txBody>
      </p:sp>
      <p:sp>
        <p:nvSpPr>
          <p:cNvPr id="50" name="Text 44"/>
          <p:cNvSpPr txBox="1"/>
          <p:nvPr/>
        </p:nvSpPr>
        <p:spPr>
          <a:xfrm>
            <a:off x="10588752" y="7839151"/>
            <a:ext cx="691195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침하 감지 → 즉각 보수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폴리우레탄 그라우트 주입 또는 막힘방지층·기초포장 재배치로 하중 재분산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1143000" y="9810598"/>
            <a:ext cx="49002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기술 실증 계획 · 운영 단계 유지보수 + 노반 모니터링</a:t>
            </a:r>
            <a:endParaRPr lang="en-US" sz="1200" dirty="0"/>
          </a:p>
        </p:txBody>
      </p:sp>
      <p:sp>
        <p:nvSpPr>
          <p:cNvPr id="52" name="Text 46"/>
          <p:cNvSpPr txBox="1"/>
          <p:nvPr/>
        </p:nvSpPr>
        <p:spPr>
          <a:xfrm>
            <a:off x="16554298" y="9810598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19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3143707"/>
            <a:ext cx="7429500" cy="628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E"/>
            </a:solidFill>
            <a:prstDash val="solid"/>
          </a:ln>
        </p:spPr>
      </p:sp>
      <p:pic>
        <p:nvPicPr>
          <p:cNvPr id="5" name="Image 0" descr="gen-dedup-05ff1fffbcd655c1253390aa4e9e8e7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761695"/>
            <a:ext cx="571500" cy="57607"/>
          </a:xfrm>
          <a:prstGeom prst="rect">
            <a:avLst/>
          </a:prstGeom>
        </p:spPr>
      </p:pic>
      <p:pic>
        <p:nvPicPr>
          <p:cNvPr id="6" name="Image 1" descr="gen-dedup-0b6fc20a6e5c21c19df3c88ff870f83b.jpg">    </p:cNvPr>
          <p:cNvPicPr>
            <a:picLocks noChangeAspect="1"/>
          </p:cNvPicPr>
          <p:nvPr/>
        </p:nvPicPr>
        <p:blipFill>
          <a:blip r:embed="rId2"/>
          <a:srcRect l="-21655" r="-21655" t="0" b="0"/>
          <a:stretch/>
        </p:blipFill>
        <p:spPr>
          <a:xfrm>
            <a:off x="1333195" y="3333902"/>
            <a:ext cx="7048195" cy="51435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95280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spc="45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기술 실증 계획 — 부지 · 평가지표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1410005"/>
            <a:ext cx="16193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E5F5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노원 에코센터 주차장</a:t>
            </a:r>
            <a:pPr algn="l" indent="0" marL="0">
              <a:buNone/>
            </a:pPr>
            <a:r>
              <a:rPr lang="en-US" sz="42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에서 실증합니다</a:t>
            </a:r>
            <a:endParaRPr lang="en-US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1333195" y="8572500"/>
            <a:ext cx="20482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b="1" spc="21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SITE-1 (HOPING)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333195" y="8801100"/>
            <a:ext cx="250271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노원구 에코센터 주차장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588252" y="8572500"/>
            <a:ext cx="18004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총면적 / 시공 면적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246266" y="8781898"/>
            <a:ext cx="2142439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F24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441.6 / 186.4 m²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762695" y="3143707"/>
            <a:ext cx="838230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spc="270" kern="0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· 목표달성도 평가지표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762695" y="3467405"/>
            <a:ext cx="8382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 정량 지표로 실증 성과를 검증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8762695" y="4000500"/>
            <a:ext cx="476402" cy="457200"/>
          </a:xfrm>
          <a:prstGeom prst="rect">
            <a:avLst/>
          </a:prstGeom>
          <a:solidFill>
            <a:srgbClr val="0F1F2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14300" rIns="101600" bIns="1143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9239098" y="4000500"/>
            <a:ext cx="5143500" cy="457200"/>
          </a:xfrm>
          <a:prstGeom prst="rect">
            <a:avLst/>
          </a:prstGeom>
          <a:solidFill>
            <a:srgbClr val="0F1F2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14300" rIns="139700" bIns="1143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4382598" y="4000500"/>
            <a:ext cx="1714500" cy="457200"/>
          </a:xfrm>
          <a:prstGeom prst="rect">
            <a:avLst/>
          </a:prstGeom>
          <a:solidFill>
            <a:srgbClr val="0F1F2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114300" rIns="139700" bIns="1143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방법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6097098" y="4000500"/>
            <a:ext cx="1047902" cy="457200"/>
          </a:xfrm>
          <a:prstGeom prst="rect">
            <a:avLst/>
          </a:prstGeom>
          <a:solidFill>
            <a:srgbClr val="0F1F24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114300" rIns="101600" bIns="1143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762695" y="4457700"/>
            <a:ext cx="476402" cy="7141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8762695" y="5162702"/>
            <a:ext cx="476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762695" y="4457700"/>
            <a:ext cx="476402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9239098" y="4457700"/>
            <a:ext cx="5143500" cy="7141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9239098" y="5162702"/>
            <a:ext cx="5143500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372600" y="4591202"/>
            <a:ext cx="4877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저수지 공극률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9372600" y="4876495"/>
            <a:ext cx="48774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(1−γd / (Gs·γd)) × 100(%)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4382598" y="4457700"/>
            <a:ext cx="1714500" cy="7141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14382598" y="5162702"/>
            <a:ext cx="1714500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14382598" y="4457700"/>
            <a:ext cx="1714500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시험실 시험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16097098" y="4457700"/>
            <a:ext cx="1047902" cy="7141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6"/>
          <p:cNvSpPr/>
          <p:nvPr/>
        </p:nvSpPr>
        <p:spPr>
          <a:xfrm>
            <a:off x="16097098" y="5162702"/>
            <a:ext cx="10479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6097098" y="4457700"/>
            <a:ext cx="1047902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1개월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8762695" y="5171846"/>
            <a:ext cx="476402" cy="714146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33" name="Shape 29"/>
          <p:cNvSpPr/>
          <p:nvPr/>
        </p:nvSpPr>
        <p:spPr>
          <a:xfrm>
            <a:off x="8762695" y="5876849"/>
            <a:ext cx="476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762695" y="5171846"/>
            <a:ext cx="476402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9239098" y="5171846"/>
            <a:ext cx="5143500" cy="714146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36" name="Shape 32"/>
          <p:cNvSpPr/>
          <p:nvPr/>
        </p:nvSpPr>
        <p:spPr>
          <a:xfrm>
            <a:off x="9239098" y="5876849"/>
            <a:ext cx="5143500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372600" y="5305349"/>
            <a:ext cx="4877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저수지 저장용량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9372600" y="5591556"/>
            <a:ext cx="48774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 = n · A · H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14382598" y="5171846"/>
            <a:ext cx="1714500" cy="714146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40" name="Shape 36"/>
          <p:cNvSpPr/>
          <p:nvPr/>
        </p:nvSpPr>
        <p:spPr>
          <a:xfrm>
            <a:off x="14382598" y="5876849"/>
            <a:ext cx="1714500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14382598" y="5171846"/>
            <a:ext cx="1714500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평가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16097098" y="5171846"/>
            <a:ext cx="1047902" cy="714146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43" name="Shape 39"/>
          <p:cNvSpPr/>
          <p:nvPr/>
        </p:nvSpPr>
        <p:spPr>
          <a:xfrm>
            <a:off x="16097098" y="5876849"/>
            <a:ext cx="10479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16097098" y="5171846"/>
            <a:ext cx="1047902" cy="5724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1개월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8762695" y="5886907"/>
            <a:ext cx="476402" cy="7525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2"/>
          <p:cNvSpPr/>
          <p:nvPr/>
        </p:nvSpPr>
        <p:spPr>
          <a:xfrm>
            <a:off x="8762695" y="6630314"/>
            <a:ext cx="476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8762695" y="5886907"/>
            <a:ext cx="476402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9239098" y="5886907"/>
            <a:ext cx="5143500" cy="7525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5"/>
          <p:cNvSpPr/>
          <p:nvPr/>
        </p:nvSpPr>
        <p:spPr>
          <a:xfrm>
            <a:off x="9239098" y="6630314"/>
            <a:ext cx="5143500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9372600" y="6019495"/>
            <a:ext cx="4877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유량 감소율 ★</a:t>
            </a:r>
            <a:endParaRPr lang="en-US" sz="1300" dirty="0"/>
          </a:p>
        </p:txBody>
      </p:sp>
      <p:sp>
        <p:nvSpPr>
          <p:cNvPr id="51" name="Text 47"/>
          <p:cNvSpPr txBox="1"/>
          <p:nvPr/>
        </p:nvSpPr>
        <p:spPr>
          <a:xfrm>
            <a:off x="9372600" y="6305702"/>
            <a:ext cx="48774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유량감소(%) = (강우량 − 저수량)/강우량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14382598" y="5886907"/>
            <a:ext cx="1714500" cy="7525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49"/>
          <p:cNvSpPr/>
          <p:nvPr/>
        </p:nvSpPr>
        <p:spPr>
          <a:xfrm>
            <a:off x="14382598" y="6630314"/>
            <a:ext cx="1714500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14382598" y="5886907"/>
            <a:ext cx="1714500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계측 센서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16097098" y="5886907"/>
            <a:ext cx="1047902" cy="7525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2"/>
          <p:cNvSpPr/>
          <p:nvPr/>
        </p:nvSpPr>
        <p:spPr>
          <a:xfrm>
            <a:off x="16097098" y="6630314"/>
            <a:ext cx="10479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16097098" y="5886907"/>
            <a:ext cx="1047902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</a:t>
            </a:r>
            <a:endParaRPr lang="en-US" sz="1200" dirty="0"/>
          </a:p>
        </p:txBody>
      </p:sp>
      <p:sp>
        <p:nvSpPr>
          <p:cNvPr id="58" name="Shape 54"/>
          <p:cNvSpPr/>
          <p:nvPr/>
        </p:nvSpPr>
        <p:spPr>
          <a:xfrm>
            <a:off x="8762695" y="6638544"/>
            <a:ext cx="476402" cy="752551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59" name="Shape 55"/>
          <p:cNvSpPr/>
          <p:nvPr/>
        </p:nvSpPr>
        <p:spPr>
          <a:xfrm>
            <a:off x="8762695" y="7381951"/>
            <a:ext cx="4764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8762695" y="6638544"/>
            <a:ext cx="476402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  <p:sp>
        <p:nvSpPr>
          <p:cNvPr id="61" name="Shape 57"/>
          <p:cNvSpPr/>
          <p:nvPr/>
        </p:nvSpPr>
        <p:spPr>
          <a:xfrm>
            <a:off x="9239098" y="6638544"/>
            <a:ext cx="5143500" cy="752551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62" name="Shape 58"/>
          <p:cNvSpPr/>
          <p:nvPr/>
        </p:nvSpPr>
        <p:spPr>
          <a:xfrm>
            <a:off x="9239098" y="7381951"/>
            <a:ext cx="5143500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9372600" y="6772046"/>
            <a:ext cx="4877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침하량</a:t>
            </a:r>
            <a:endParaRPr lang="en-US" sz="1300" dirty="0"/>
          </a:p>
        </p:txBody>
      </p:sp>
      <p:sp>
        <p:nvSpPr>
          <p:cNvPr id="64" name="Text 60"/>
          <p:cNvSpPr txBox="1"/>
          <p:nvPr/>
        </p:nvSpPr>
        <p:spPr>
          <a:xfrm>
            <a:off x="9372600" y="7058254"/>
            <a:ext cx="48774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침하량 &lt; 0.25mm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14382598" y="6638544"/>
            <a:ext cx="1714500" cy="752551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66" name="Shape 62"/>
          <p:cNvSpPr/>
          <p:nvPr/>
        </p:nvSpPr>
        <p:spPr>
          <a:xfrm>
            <a:off x="14382598" y="7381951"/>
            <a:ext cx="1714500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14382598" y="6638544"/>
            <a:ext cx="1714500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재하 계측</a:t>
            </a:r>
            <a:endParaRPr lang="en-US" sz="1100" dirty="0"/>
          </a:p>
        </p:txBody>
      </p:sp>
      <p:sp>
        <p:nvSpPr>
          <p:cNvPr id="68" name="Shape 64"/>
          <p:cNvSpPr/>
          <p:nvPr/>
        </p:nvSpPr>
        <p:spPr>
          <a:xfrm>
            <a:off x="16097098" y="6638544"/>
            <a:ext cx="1047902" cy="752551"/>
          </a:xfrm>
          <a:prstGeom prst="rect">
            <a:avLst/>
          </a:prstGeom>
          <a:solidFill>
            <a:srgbClr val="ECE5D8"/>
          </a:solidFill>
          <a:ln/>
        </p:spPr>
      </p:sp>
      <p:sp>
        <p:nvSpPr>
          <p:cNvPr id="69" name="Shape 65"/>
          <p:cNvSpPr/>
          <p:nvPr/>
        </p:nvSpPr>
        <p:spPr>
          <a:xfrm>
            <a:off x="16097098" y="7381951"/>
            <a:ext cx="1047902" cy="9144"/>
          </a:xfrm>
          <a:prstGeom prst="rect">
            <a:avLst/>
          </a:prstGeom>
          <a:solidFill>
            <a:srgbClr val="C9C0AE"/>
          </a:solidFill>
          <a:ln w="12700">
            <a:solidFill>
              <a:srgbClr val="C9C0AE">
                <a:alpha val="0"/>
              </a:srgbClr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16097098" y="6638544"/>
            <a:ext cx="1047902" cy="6099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</a:t>
            </a:r>
            <a:endParaRPr lang="en-US" sz="1200" dirty="0"/>
          </a:p>
        </p:txBody>
      </p:sp>
      <p:sp>
        <p:nvSpPr>
          <p:cNvPr id="71" name="Text 67"/>
          <p:cNvSpPr txBox="1"/>
          <p:nvPr/>
        </p:nvSpPr>
        <p:spPr>
          <a:xfrm>
            <a:off x="8762695" y="7391095"/>
            <a:ext cx="476402" cy="743407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139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  <p:sp>
        <p:nvSpPr>
          <p:cNvPr id="72" name="Shape 68"/>
          <p:cNvSpPr/>
          <p:nvPr/>
        </p:nvSpPr>
        <p:spPr>
          <a:xfrm>
            <a:off x="9239098" y="7391095"/>
            <a:ext cx="5143500" cy="74340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9372600" y="7524598"/>
            <a:ext cx="48774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표면 구조 상태</a:t>
            </a:r>
            <a:endParaRPr lang="en-US" sz="1300" dirty="0"/>
          </a:p>
        </p:txBody>
      </p:sp>
      <p:sp>
        <p:nvSpPr>
          <p:cNvPr id="74" name="Text 70"/>
          <p:cNvSpPr txBox="1"/>
          <p:nvPr/>
        </p:nvSpPr>
        <p:spPr>
          <a:xfrm>
            <a:off x="9372600" y="7810805"/>
            <a:ext cx="48774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균열·바퀴자국 육안 평가</a:t>
            </a:r>
            <a:endParaRPr lang="en-US" sz="1000" dirty="0"/>
          </a:p>
        </p:txBody>
      </p:sp>
      <p:sp>
        <p:nvSpPr>
          <p:cNvPr id="75" name="Text 71"/>
          <p:cNvSpPr txBox="1"/>
          <p:nvPr/>
        </p:nvSpPr>
        <p:spPr>
          <a:xfrm>
            <a:off x="14382598" y="7391095"/>
            <a:ext cx="1714500" cy="743407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139700" rIns="139700" bIns="1397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육안</a:t>
            </a:r>
            <a:endParaRPr lang="en-US" sz="1100" dirty="0"/>
          </a:p>
        </p:txBody>
      </p:sp>
      <p:sp>
        <p:nvSpPr>
          <p:cNvPr id="76" name="Text 72"/>
          <p:cNvSpPr txBox="1"/>
          <p:nvPr/>
        </p:nvSpPr>
        <p:spPr>
          <a:xfrm>
            <a:off x="16097098" y="7391095"/>
            <a:ext cx="1047902" cy="743407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39700" rIns="101600" bIns="1397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3개월</a:t>
            </a:r>
            <a:endParaRPr lang="en-US" sz="1200" dirty="0"/>
          </a:p>
        </p:txBody>
      </p:sp>
      <p:sp>
        <p:nvSpPr>
          <p:cNvPr id="77" name="Shape 73"/>
          <p:cNvSpPr/>
          <p:nvPr/>
        </p:nvSpPr>
        <p:spPr>
          <a:xfrm>
            <a:off x="8762695" y="8906256"/>
            <a:ext cx="8382305" cy="495605"/>
          </a:xfrm>
          <a:prstGeom prst="rect">
            <a:avLst/>
          </a:prstGeom>
          <a:solidFill>
            <a:srgbClr val="F8EFEC"/>
          </a:solidFill>
          <a:ln/>
        </p:spPr>
      </p:sp>
      <p:sp>
        <p:nvSpPr>
          <p:cNvPr id="78" name="Shape 74"/>
          <p:cNvSpPr/>
          <p:nvPr/>
        </p:nvSpPr>
        <p:spPr>
          <a:xfrm>
            <a:off x="8762695" y="8906256"/>
            <a:ext cx="38405" cy="495605"/>
          </a:xfrm>
          <a:prstGeom prst="rect">
            <a:avLst/>
          </a:prstGeom>
          <a:solidFill>
            <a:srgbClr val="B14A2A"/>
          </a:solidFill>
          <a:ln w="12700">
            <a:solidFill>
              <a:srgbClr val="B14A2A">
                <a:alpha val="0"/>
              </a:srgbClr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8973007" y="8906256"/>
            <a:ext cx="8171993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139700" rIns="177800" bIns="1397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14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지표 03 </a:t>
            </a:r>
            <a:pPr algn="l" indent="0" marL="0">
              <a:buNone/>
            </a:pPr>
            <a:r>
              <a:rPr lang="en-US" sz="1200" b="1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유량 감소율</a:t>
            </a:r>
            <a:pPr algn="l" indent="0" marL="0">
              <a:buNone/>
            </a:pPr>
            <a:r>
              <a:rPr lang="en-US" sz="1200" dirty="0">
                <a:solidFill>
                  <a:srgbClr val="2A3B4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온실가스 감축·기후변화 대응 평가지표로 우선 보고</a:t>
            </a:r>
            <a:endParaRPr lang="en-US" sz="1200" dirty="0"/>
          </a:p>
        </p:txBody>
      </p:sp>
      <p:sp>
        <p:nvSpPr>
          <p:cNvPr id="80" name="Text 76"/>
          <p:cNvSpPr txBox="1"/>
          <p:nvPr/>
        </p:nvSpPr>
        <p:spPr>
          <a:xfrm>
            <a:off x="1143000" y="9715500"/>
            <a:ext cx="27203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기술 실증 계획 · 부지 · KPI</a:t>
            </a:r>
            <a:endParaRPr lang="en-US" sz="1200" dirty="0"/>
          </a:p>
        </p:txBody>
      </p:sp>
      <p:sp>
        <p:nvSpPr>
          <p:cNvPr id="81" name="Text 77"/>
          <p:cNvSpPr txBox="1"/>
          <p:nvPr/>
        </p:nvSpPr>
        <p:spPr>
          <a:xfrm>
            <a:off x="16554298" y="9715500"/>
            <a:ext cx="7031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20" kern="0" dirty="0">
                <a:solidFill>
                  <a:srgbClr val="54666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/ 19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1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67fd6805bfeca7be8b3e7278adaf1ca3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-3" r="-3" t="0" b="0"/>
          <a:stretch/>
        </p:blipFill>
        <p:spPr>
          <a:xfrm>
            <a:off x="10001707" y="0"/>
            <a:ext cx="8287207" cy="10287000"/>
          </a:xfrm>
          <a:prstGeom prst="rect">
            <a:avLst/>
          </a:prstGeom>
        </p:spPr>
      </p:pic>
      <p:pic>
        <p:nvPicPr>
          <p:cNvPr id="5" name="Image 1" descr="gen-dedup-7d0e4393da1cd2f1b4b7b5043971aad3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-400" r="-400" t="0" b="0"/>
          <a:stretch/>
        </p:blipFill>
        <p:spPr>
          <a:xfrm>
            <a:off x="10001707" y="0"/>
            <a:ext cx="19202" cy="10287000"/>
          </a:xfrm>
          <a:prstGeom prst="rect">
            <a:avLst/>
          </a:prstGeom>
        </p:spPr>
      </p:pic>
      <p:pic>
        <p:nvPicPr>
          <p:cNvPr id="6" name="Image 2" descr="gen-dedup-b1365315c737ef2f8ed8e15d9aab6c97.png">    </p:cNvPr>
          <p:cNvPicPr>
            <a:picLocks noChangeAspect="1"/>
          </p:cNvPicPr>
          <p:nvPr/>
        </p:nvPicPr>
        <p:blipFill>
          <a:blip r:embed="rId3"/>
          <a:srcRect l="-2089" r="-2089" t="0" b="0"/>
          <a:stretch/>
        </p:blipFill>
        <p:spPr>
          <a:xfrm>
            <a:off x="1333195" y="8287207"/>
            <a:ext cx="8287207" cy="9144"/>
          </a:xfrm>
          <a:prstGeom prst="rect">
            <a:avLst/>
          </a:prstGeom>
        </p:spPr>
      </p:pic>
      <p:pic>
        <p:nvPicPr>
          <p:cNvPr id="7" name="Image 3" descr="gen-dedup-767fa05ad9721880df06ecfdba9a466b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0" y="9905695"/>
            <a:ext cx="18288000" cy="9144"/>
          </a:xfrm>
          <a:prstGeom prst="rect">
            <a:avLst/>
          </a:prstGeom>
        </p:spPr>
      </p:pic>
      <p:pic>
        <p:nvPicPr>
          <p:cNvPr id="8" name="Image 4" descr="gen-dedup-af5ad38ec5eabdb48495b7cdc2c28487.png">    </p:cNvPr>
          <p:cNvPicPr>
            <a:picLocks noChangeAspect="1"/>
          </p:cNvPicPr>
          <p:nvPr/>
        </p:nvPicPr>
        <p:blipFill>
          <a:blip r:embed="rId5"/>
          <a:srcRect l="-181" r="-181" t="0" b="0"/>
          <a:stretch/>
        </p:blipFill>
        <p:spPr>
          <a:xfrm>
            <a:off x="1333195" y="1333195"/>
            <a:ext cx="761695" cy="75895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1333195" y="1619402"/>
            <a:ext cx="8572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495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 · Q&amp;A</a:t>
            </a:r>
            <a:endParaRPr lang="en-US" sz="1600" dirty="0"/>
          </a:p>
        </p:txBody>
      </p:sp>
      <p:sp>
        <p:nvSpPr>
          <p:cNvPr id="10" name="Text 3"/>
          <p:cNvSpPr txBox="1"/>
          <p:nvPr/>
        </p:nvSpPr>
        <p:spPr>
          <a:xfrm>
            <a:off x="1333195" y="2000707"/>
            <a:ext cx="9144000" cy="288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투수포장의</a:t>
            </a:r>
            <a:pPr algn="l" indent="0" marL="0">
              <a:buNone/>
            </a:pPr>
            <a:endParaRPr lang="en-US" sz="6300" dirty="0"/>
          </a:p>
          <a:p>
            <a:pPr algn="l" indent="0" marL="0"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‘비어 있는 공간’이</a:t>
            </a:r>
            <a:pPr algn="l" indent="0" marL="0">
              <a:buNone/>
            </a:pPr>
            <a:endParaRPr lang="en-US" sz="6300" dirty="0"/>
          </a:p>
          <a:p>
            <a:pPr algn="l" indent="0" marL="0">
              <a:buNone/>
            </a:pPr>
            <a:r>
              <a:rPr lang="en-US" sz="6300" b="1" spc="-126" kern="0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도시의 회복력</a:t>
            </a:r>
            <a:pPr algn="l" indent="0" marL="0">
              <a:buNone/>
            </a:pPr>
            <a:r>
              <a:rPr lang="en-US" sz="6300" b="1" spc="-126" kern="0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 됩니다</a:t>
            </a:r>
            <a:endParaRPr lang="en-US" sz="6300" dirty="0"/>
          </a:p>
        </p:txBody>
      </p:sp>
      <p:sp>
        <p:nvSpPr>
          <p:cNvPr id="11" name="Text 4"/>
          <p:cNvSpPr txBox="1"/>
          <p:nvPr/>
        </p:nvSpPr>
        <p:spPr>
          <a:xfrm>
            <a:off x="1333195" y="6762902"/>
            <a:ext cx="85725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입도 쇄석 하부기층 저수시스템 · TRL 6 · 실증 3개월 → 산업 표준화까지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· 경제 · 환경 · 제도</a:t>
            </a:r>
            <a:pPr algn="l" indent="0" marL="0">
              <a:buNone/>
            </a:pPr>
            <a:r>
              <a:rPr lang="en-US" sz="160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4중 임팩트를 한 시스템에 담았습니다.</a:t>
            </a:r>
            <a:endParaRPr lang="en-US" sz="1600" dirty="0"/>
          </a:p>
        </p:txBody>
      </p:sp>
      <p:sp>
        <p:nvSpPr>
          <p:cNvPr id="12" name="Text 5"/>
          <p:cNvSpPr txBox="1"/>
          <p:nvPr/>
        </p:nvSpPr>
        <p:spPr>
          <a:xfrm>
            <a:off x="1333195" y="8572500"/>
            <a:ext cx="2667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16.0 m³</a:t>
            </a:r>
            <a:endParaRPr lang="en-US" sz="2500" dirty="0"/>
          </a:p>
        </p:txBody>
      </p:sp>
      <p:sp>
        <p:nvSpPr>
          <p:cNvPr id="13" name="Text 6"/>
          <p:cNvSpPr txBox="1"/>
          <p:nvPr/>
        </p:nvSpPr>
        <p:spPr>
          <a:xfrm>
            <a:off x="1333195" y="9077249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56" kern="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100m²/500mm 저수용량</a:t>
            </a:r>
            <a:endParaRPr lang="en-US" sz="1100" dirty="0"/>
          </a:p>
        </p:txBody>
      </p:sp>
      <p:sp>
        <p:nvSpPr>
          <p:cNvPr id="14" name="Text 7"/>
          <p:cNvSpPr txBox="1"/>
          <p:nvPr/>
        </p:nvSpPr>
        <p:spPr>
          <a:xfrm>
            <a:off x="4286707" y="8572500"/>
            <a:ext cx="2667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60% ↓</a:t>
            </a:r>
            <a:endParaRPr lang="en-US" sz="2500" dirty="0"/>
          </a:p>
        </p:txBody>
      </p:sp>
      <p:sp>
        <p:nvSpPr>
          <p:cNvPr id="15" name="Text 8"/>
          <p:cNvSpPr txBox="1"/>
          <p:nvPr/>
        </p:nvSpPr>
        <p:spPr>
          <a:xfrm>
            <a:off x="4286707" y="9077249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56" kern="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유출량 감소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7239305" y="8572500"/>
            <a:ext cx="2667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TRL 6</a:t>
            </a:r>
            <a:endParaRPr lang="en-US" sz="2500" dirty="0"/>
          </a:p>
        </p:txBody>
      </p:sp>
      <p:sp>
        <p:nvSpPr>
          <p:cNvPr id="17" name="Text 10"/>
          <p:cNvSpPr txBox="1"/>
          <p:nvPr/>
        </p:nvSpPr>
        <p:spPr>
          <a:xfrm>
            <a:off x="7239305" y="9077249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56" kern="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실증으로 7~8 진입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10477195" y="2667305"/>
            <a:ext cx="7429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spc="495" kern="0" dirty="0">
                <a:solidFill>
                  <a:srgbClr val="F5E6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STEP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10477195" y="3143707"/>
            <a:ext cx="7429500" cy="193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과제 채택 →</a:t>
            </a:r>
            <a:pPr algn="l" indent="0" marL="0">
              <a:buNone/>
            </a:pP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3개월 실증 →</a:t>
            </a:r>
            <a:pPr algn="l" indent="0" marL="0">
              <a:buNone/>
            </a:pP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5E6B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KS 기준 제정 제안</a:t>
            </a:r>
            <a:endParaRPr lang="en-US" sz="4000" dirty="0"/>
          </a:p>
        </p:txBody>
      </p:sp>
      <p:sp>
        <p:nvSpPr>
          <p:cNvPr id="20" name="Text 13"/>
          <p:cNvSpPr txBox="1"/>
          <p:nvPr/>
        </p:nvSpPr>
        <p:spPr>
          <a:xfrm>
            <a:off x="10477195" y="5357470"/>
            <a:ext cx="742950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시험구획 건설 · 강우 모의 · 구조 하중시험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5개 KPI 정량 검증 + 기후 평가지표 보고</a:t>
            </a:r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9C0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▸ 정부 정책 제안 (제도 신설 · 인허가 인센티브)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333195" y="10019995"/>
            <a:ext cx="739566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58" kern="0" dirty="0">
                <a:solidFill>
                  <a:srgbClr val="7A8A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OPEN-GRADED CRUSHED STONE · SUB-BASE RESERVOIR SYSTEM · 2026 R&amp;D PROPOSAL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6391534" y="10019995"/>
            <a:ext cx="76626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00" spc="158" kern="0" dirty="0">
                <a:solidFill>
                  <a:srgbClr val="7A8A9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2026-06-29T08:03:28Z</dcterms:created>
  <dcterms:modified xsi:type="dcterms:W3CDTF">2026-06-29T08:03:28Z</dcterms:modified>
</cp:coreProperties>
</file>